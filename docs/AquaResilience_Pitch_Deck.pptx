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dea6bc-d959-ee50-7cd1-7562926c8fef}">
          <p14:sldIdLst>
            <p14:sldId id="256"/>
            <p14:sldId id="257"/>
            <p14:sldId id="258"/>
            <p14:sldId id="259"/>
          </p14:sldIdLst>
        </p14:section>
        <p14:section name="Product" id="{22e188ab-f3ac-b4fc-ea4f-fe09fc8069a9}">
          <p14:sldIdLst>
            <p14:sldId id="260"/>
            <p14:sldId id="261"/>
            <p14:sldId id="262"/>
          </p14:sldIdLst>
        </p14:section>
        <p14:section name="Under the hood" id="{c7374a17-e9db-1b6b-97f7-e6859b52a47d}">
          <p14:sldIdLst>
            <p14:sldId id="263"/>
            <p14:sldId id="264"/>
            <p14:sldId id="265"/>
          </p14:sldIdLst>
        </p14:section>
        <p14:section name="Impact and reach" id="{444f4ef3-f76b-e2e6-0088-62229d1f3ca9}">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Zakaria Abidi, solo builder of AquaResilience for Track 6, Resilience Informatics. One sentence: AquaResilience turns open hydrology and weather data into an explainable risk score and an early warning, city by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the lack of data, it is that data is scattered and reactive. We want communities and operators to see risk building before it becomes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Ingest open data, score the risk with a deterministic engine, raise warnings with a clear lifecycle, then let an AI explain the situation in plain language. Five connectors are already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Health framing: the health of the water, the ecosystem and the people are one question. Our risk factors and our alerts map directly onto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Command Center for Toulouse. KPI tiles on top, live charts below. The header shows the selected city and system status. The data shown here is the built-in demo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warning moves through three states. The platform records who acknowledged and resolved it. A high or critical warning can also trigger an automatic AI analysis, under the same budget as a manual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answers 'what if' without touching real data. With the extreme flood preset the score goes from 15 to 53, a High warning. It is a preview only, nothing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a plain weighted average of four factors, so anyone can audit it. If a factor has no data, it drops out and the remaining weights are renormalized, so the score never silently under-counts. Weights and thresholds live in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by design. The AI is never the source of truth: the deterministic engine is. The AI writes a structured, validated brief, shows its confidence and limits, makes no medical claims, and is held to a daily budget and cooldown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from one docker compose command. nginx is the single entry point, FastAPI hosts the risk engine, connectors and scheduler, PostgreSQL with PostGIS stores the data, and Redis handles login rate limiting. External sources feed the connector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available in the nine languages of the OneAquaHealth consortium countries. Roles control what each person can see and do, and the platform has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Toulouse is live today. Vienna, Ghent and Oslo have connectors written. Coimbra, Athens, Barcelona, Naples and Holon are the next steps, each one connector away. Cities without live data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finish the connectors for the remaining cities, give warnings a city scope, add forecasting, and open community channels.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57607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640080" y="4206240"/>
            <a:ext cx="576072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B6B7C"/>
                </a:solidFill>
              </a:rPr>
              <a:t>AquaResilience  ·  OneAquaHealth IEEE Global Hackathon  ·  Track 6: Resilience Informatics</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Title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640080" y="640080"/>
            <a:ext cx="3566160" cy="1325880"/>
          </a:xfrm>
          <a:prstGeom prst="roundRect">
            <a:avLst>
              <a:gd name="adj" fmla="val 10345"/>
            </a:avLst>
          </a:prstGeom>
          <a:solidFill>
            <a:schemeClr val="bg1"/>
          </a:solidFill>
          <a:ln w="12700">
            <a:solidFill>
              <a:schemeClr val="bg1"/>
            </a:solidFill>
            <a:prstDash val="solid"/>
          </a:ln>
        </p:spPr>
      </p:sp>
      <p:pic>
        <p:nvPicPr>
          <p:cNvPr id="3" name="Logo" descr="AquaResilience logo">    </p:cNvPr>
          <p:cNvPicPr>
            <a:picLocks noChangeAspect="1"/>
          </p:cNvPicPr>
          <p:nvPr/>
        </p:nvPicPr>
        <p:blipFill>
          <a:blip r:embed="rId1"/>
          <a:stretch>
            <a:fillRect/>
          </a:stretch>
        </p:blipFill>
        <p:spPr>
          <a:xfrm>
            <a:off x="868680" y="822960"/>
            <a:ext cx="3108960" cy="1043275"/>
          </a:xfrm>
          <a:prstGeom prst="rect">
            <a:avLst/>
          </a:prstGeom>
        </p:spPr>
      </p:pic>
      <p:sp>
        <p:nvSpPr>
          <p:cNvPr id="4" name="Text 0"/>
          <p:cNvSpPr/>
          <p:nvPr>
            <p:ph idx="100" type="title" hasCustomPrompt="1"/>
          </p:nvPr>
        </p:nvSpPr>
        <p:spPr>
          <a:xfrm>
            <a:off x="640080" y="2240280"/>
            <a:ext cx="5760720" cy="1737360"/>
          </a:xfrm>
          <a:prstGeom prst="rect">
            <a:avLst/>
          </a:prstGeom>
          <a:noFill/>
          <a:ln/>
        </p:spPr>
        <p:txBody>
          <a:bodyPr wrap="square" lIns="0" tIns="0" rIns="0" bIns="0" rtlCol="0" anchor="t"/>
          <a:lstStyle/>
          <a:p>
            <a:pPr algn="l" indent="0" marL="0">
              <a:buNone/>
            </a:pPr>
            <a:r>
              <a:rPr lang="en-US" sz="4400" b="1" dirty="0">
                <a:solidFill>
                  <a:schemeClr val="bg1"/>
                </a:solidFill>
              </a:rPr>
              <a:t>Early warning for healthier urban waters</a:t>
            </a:r>
            <a:endParaRPr lang="en-US" sz="4400" dirty="0"/>
          </a:p>
        </p:txBody>
      </p:sp>
      <p:sp>
        <p:nvSpPr>
          <p:cNvPr id="5" name="Text 0"/>
          <p:cNvSpPr/>
          <p:nvPr>
            <p:ph idx="101" type="body" hasCustomPrompt="1"/>
          </p:nvPr>
        </p:nvSpPr>
        <p:spPr>
          <a:xfrm>
            <a:off x="640080" y="4206240"/>
            <a:ext cx="5760720" cy="1463040"/>
          </a:xfrm>
          <a:prstGeom prst="rect">
            <a:avLst/>
          </a:prstGeom>
          <a:noFill/>
          <a:ln/>
        </p:spPr>
        <p:txBody>
          <a:bodyPr wrap="square" lIns="0" tIns="0" rIns="0" bIns="0" rtlCol="0" anchor="t"/>
          <a:lstStyle/>
          <a:p>
            <a:pPr algn="l" indent="0" marL="0">
              <a:spcAft>
                <a:spcPts val="600"/>
              </a:spcAft>
              <a:buNone/>
            </a:pPr>
            <a:r>
              <a:rPr lang="en-US" sz="1800" dirty="0">
                <a:solidFill>
                  <a:schemeClr val="bg2"/>
                </a:solidFill>
              </a:rPr>
              <a:t>OneAquaHealth IEEE Global Hackathon 2026</a:t>
            </a:r>
            <a:endParaRPr lang="en-US" sz="1800" dirty="0"/>
          </a:p>
          <a:p>
            <a:pPr algn="l" indent="0" marL="0">
              <a:spcAft>
                <a:spcPts val="600"/>
              </a:spcAft>
              <a:buNone/>
            </a:pPr>
            <a:r>
              <a:rPr lang="en-US" sz="1800" b="1" dirty="0">
                <a:solidFill>
                  <a:schemeClr val="bg2"/>
                </a:solidFill>
              </a:rPr>
              <a:t>Track 6 · Resilience Informatics</a:t>
            </a:r>
            <a:endParaRPr lang="en-US" sz="1800" dirty="0"/>
          </a:p>
          <a:p>
            <a:pPr algn="l" indent="0" marL="0">
              <a:spcAft>
                <a:spcPts val="600"/>
              </a:spcAft>
              <a:buNone/>
            </a:pPr>
            <a:r>
              <a:rPr lang="en-US" sz="1800" dirty="0">
                <a:solidFill>
                  <a:schemeClr val="bg2"/>
                </a:solidFill>
              </a:rPr>
              <a:t>Zakaria ABIDI</a:t>
            </a:r>
            <a:endParaRPr lang="en-US" sz="1800" dirty="0"/>
          </a:p>
        </p:txBody>
      </p:sp>
      <p:sp>
        <p:nvSpPr>
          <p:cNvPr id="6" name="Command Center screenshot frame"/>
          <p:cNvSpPr/>
          <p:nvPr/>
        </p:nvSpPr>
        <p:spPr>
          <a:xfrm>
            <a:off x="6638544" y="786384"/>
            <a:ext cx="5102352" cy="2902077"/>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7" name="Command Center screenshot" descr="Command Center screenshot">    </p:cNvPr>
          <p:cNvPicPr>
            <a:picLocks noChangeAspect="1"/>
          </p:cNvPicPr>
          <p:nvPr/>
        </p:nvPicPr>
        <p:blipFill>
          <a:blip r:embed="rId2"/>
          <a:stretch>
            <a:fillRect/>
          </a:stretch>
        </p:blipFill>
        <p:spPr>
          <a:xfrm>
            <a:off x="6675120" y="822960"/>
            <a:ext cx="5029200" cy="2828925"/>
          </a:xfrm>
          <a:prstGeom prst="rect">
            <a:avLst/>
          </a:prstGeom>
        </p:spPr>
      </p:pic>
      <p:sp>
        <p:nvSpPr>
          <p:cNvPr id="8" name="Scenario gauges screenshot frame"/>
          <p:cNvSpPr/>
          <p:nvPr/>
        </p:nvSpPr>
        <p:spPr>
          <a:xfrm>
            <a:off x="7644384" y="4078224"/>
            <a:ext cx="4096512" cy="1564327"/>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9" name="Scenario gauges screenshot" descr="Scenario gauges screenshot">    </p:cNvPr>
          <p:cNvPicPr>
            <a:picLocks noChangeAspect="1"/>
          </p:cNvPicPr>
          <p:nvPr/>
        </p:nvPicPr>
        <p:blipFill>
          <a:blip r:embed="rId3"/>
          <a:stretch>
            <a:fillRect/>
          </a:stretch>
        </p:blipFill>
        <p:spPr>
          <a:xfrm>
            <a:off x="7680960" y="4114800"/>
            <a:ext cx="4023360" cy="1491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Cities watch their waters after the damage</a:t>
            </a:r>
            <a:endParaRPr lang="en-US" sz="3600" dirty="0"/>
          </a:p>
        </p:txBody>
      </p:sp>
      <p:sp>
        <p:nvSpPr>
          <p:cNvPr id="3" name="Problem card 1"/>
          <p:cNvSpPr/>
          <p:nvPr/>
        </p:nvSpPr>
        <p:spPr>
          <a:xfrm>
            <a:off x="548640" y="1463040"/>
            <a:ext cx="3502152" cy="3291840"/>
          </a:xfrm>
          <a:prstGeom prst="roundRect">
            <a:avLst>
              <a:gd name="adj" fmla="val 3333"/>
            </a:avLst>
          </a:prstGeom>
          <a:solidFill>
            <a:schemeClr val="bg2"/>
          </a:solidFill>
          <a:ln w="12700">
            <a:solidFill>
              <a:schemeClr val="bg2"/>
            </a:solidFill>
            <a:prstDash val="solid"/>
          </a:ln>
        </p:spPr>
      </p:sp>
      <p:sp>
        <p:nvSpPr>
          <p:cNvPr id="4" name="Problem 1 badge"/>
          <p:cNvSpPr/>
          <p:nvPr/>
        </p:nvSpPr>
        <p:spPr>
          <a:xfrm>
            <a:off x="868680" y="1783080"/>
            <a:ext cx="868680" cy="868680"/>
          </a:xfrm>
          <a:prstGeom prst="ellipse">
            <a:avLst/>
          </a:prstGeom>
          <a:solidFill>
            <a:schemeClr val="accent1"/>
          </a:solidFill>
          <a:ln w="12700">
            <a:solidFill>
              <a:schemeClr val="accent1"/>
            </a:solidFill>
            <a:prstDash val="solid"/>
          </a:ln>
        </p:spPr>
      </p:sp>
      <p:pic>
        <p:nvPicPr>
          <p:cNvPr id="5" name="Problem 1 icon" descr="Problem 1">    </p:cNvPr>
          <p:cNvPicPr>
            <a:picLocks noChangeAspect="1"/>
          </p:cNvPicPr>
          <p:nvPr/>
        </p:nvPicPr>
        <p:blipFill>
          <a:blip r:embed="rId1"/>
          <a:stretch>
            <a:fillRect/>
          </a:stretch>
        </p:blipFill>
        <p:spPr>
          <a:xfrm>
            <a:off x="1094537" y="2008937"/>
            <a:ext cx="416966" cy="416966"/>
          </a:xfrm>
          <a:prstGeom prst="rect">
            <a:avLst/>
          </a:prstGeom>
        </p:spPr>
      </p:pic>
      <p:sp>
        <p:nvSpPr>
          <p:cNvPr id="6" name="Text 3"/>
          <p:cNvSpPr txBox="1"/>
          <p:nvPr/>
        </p:nvSpPr>
        <p:spPr>
          <a:xfrm>
            <a:off x="868680" y="2880360"/>
            <a:ext cx="2880360" cy="411480"/>
          </a:xfrm>
          <a:prstGeom prst="rect">
            <a:avLst/>
          </a:prstGeom>
          <a:noFill/>
          <a:ln/>
        </p:spPr>
        <p:txBody>
          <a:bodyPr wrap="square" lIns="0" tIns="0" rIns="0" bIns="0" rtlCol="0" anchor="t"/>
          <a:lstStyle/>
          <a:p>
            <a:pPr indent="0" marL="0">
              <a:buNone/>
            </a:pPr>
            <a:r>
              <a:rPr lang="en-US" sz="2200" b="1" dirty="0">
                <a:solidFill>
                  <a:schemeClr val="tx1"/>
                </a:solidFill>
              </a:rPr>
              <a:t>Sudden floods</a:t>
            </a:r>
            <a:endParaRPr lang="en-US" sz="2200" dirty="0"/>
          </a:p>
        </p:txBody>
      </p:sp>
      <p:sp>
        <p:nvSpPr>
          <p:cNvPr id="7" name="Text 4"/>
          <p:cNvSpPr txBox="1"/>
          <p:nvPr/>
        </p:nvSpPr>
        <p:spPr>
          <a:xfrm>
            <a:off x="868680" y="3383280"/>
            <a:ext cx="2880360" cy="1188720"/>
          </a:xfrm>
          <a:prstGeom prst="rect">
            <a:avLst/>
          </a:prstGeom>
          <a:noFill/>
          <a:ln/>
        </p:spPr>
        <p:txBody>
          <a:bodyPr wrap="square" lIns="0" tIns="0" rIns="0" bIns="0" rtlCol="0" anchor="t"/>
          <a:lstStyle/>
          <a:p>
            <a:pPr indent="0" marL="0">
              <a:buNone/>
            </a:pPr>
            <a:r>
              <a:rPr lang="en-US" sz="1500" dirty="0">
                <a:solidFill>
                  <a:schemeClr val="tx1"/>
                </a:solidFill>
              </a:rPr>
              <a:t>Rivers and urban waterways can rise within hours. Reactive monitoring leaves communities little time to act.</a:t>
            </a:r>
            <a:endParaRPr lang="en-US" sz="1500" dirty="0"/>
          </a:p>
        </p:txBody>
      </p:sp>
      <p:sp>
        <p:nvSpPr>
          <p:cNvPr id="8" name="Problem card 2"/>
          <p:cNvSpPr/>
          <p:nvPr/>
        </p:nvSpPr>
        <p:spPr>
          <a:xfrm>
            <a:off x="4325112" y="1463040"/>
            <a:ext cx="3502152" cy="3291840"/>
          </a:xfrm>
          <a:prstGeom prst="roundRect">
            <a:avLst>
              <a:gd name="adj" fmla="val 3333"/>
            </a:avLst>
          </a:prstGeom>
          <a:solidFill>
            <a:schemeClr val="bg2"/>
          </a:solidFill>
          <a:ln w="12700">
            <a:solidFill>
              <a:schemeClr val="bg2"/>
            </a:solidFill>
            <a:prstDash val="solid"/>
          </a:ln>
        </p:spPr>
      </p:sp>
      <p:sp>
        <p:nvSpPr>
          <p:cNvPr id="9" name="Problem 2 badge"/>
          <p:cNvSpPr/>
          <p:nvPr/>
        </p:nvSpPr>
        <p:spPr>
          <a:xfrm>
            <a:off x="4645152" y="1783080"/>
            <a:ext cx="868680" cy="868680"/>
          </a:xfrm>
          <a:prstGeom prst="ellipse">
            <a:avLst/>
          </a:prstGeom>
          <a:solidFill>
            <a:schemeClr val="accent2"/>
          </a:solidFill>
          <a:ln w="12700">
            <a:solidFill>
              <a:schemeClr val="accent2"/>
            </a:solidFill>
            <a:prstDash val="solid"/>
          </a:ln>
        </p:spPr>
      </p:sp>
      <p:pic>
        <p:nvPicPr>
          <p:cNvPr id="10" name="Problem 2 icon" descr="Problem 2">    </p:cNvPr>
          <p:cNvPicPr>
            <a:picLocks noChangeAspect="1"/>
          </p:cNvPicPr>
          <p:nvPr/>
        </p:nvPicPr>
        <p:blipFill>
          <a:blip r:embed="rId2"/>
          <a:stretch>
            <a:fillRect/>
          </a:stretch>
        </p:blipFill>
        <p:spPr>
          <a:xfrm>
            <a:off x="4871009" y="2008937"/>
            <a:ext cx="416966" cy="416966"/>
          </a:xfrm>
          <a:prstGeom prst="rect">
            <a:avLst/>
          </a:prstGeom>
        </p:spPr>
      </p:pic>
      <p:sp>
        <p:nvSpPr>
          <p:cNvPr id="11" name="Text 7"/>
          <p:cNvSpPr txBox="1"/>
          <p:nvPr/>
        </p:nvSpPr>
        <p:spPr>
          <a:xfrm>
            <a:off x="4645152" y="2880360"/>
            <a:ext cx="2880360" cy="411480"/>
          </a:xfrm>
          <a:prstGeom prst="rect">
            <a:avLst/>
          </a:prstGeom>
          <a:noFill/>
          <a:ln/>
        </p:spPr>
        <p:txBody>
          <a:bodyPr wrap="square" lIns="0" tIns="0" rIns="0" bIns="0" rtlCol="0" anchor="t"/>
          <a:lstStyle/>
          <a:p>
            <a:pPr indent="0" marL="0">
              <a:buNone/>
            </a:pPr>
            <a:r>
              <a:rPr lang="en-US" sz="2200" b="1" dirty="0">
                <a:solidFill>
                  <a:schemeClr val="tx1"/>
                </a:solidFill>
              </a:rPr>
              <a:t>Fragmented data</a:t>
            </a:r>
            <a:endParaRPr lang="en-US" sz="2200" dirty="0"/>
          </a:p>
        </p:txBody>
      </p:sp>
      <p:sp>
        <p:nvSpPr>
          <p:cNvPr id="12" name="Text 8"/>
          <p:cNvSpPr txBox="1"/>
          <p:nvPr/>
        </p:nvSpPr>
        <p:spPr>
          <a:xfrm>
            <a:off x="4645152" y="3383280"/>
            <a:ext cx="2880360" cy="1188720"/>
          </a:xfrm>
          <a:prstGeom prst="rect">
            <a:avLst/>
          </a:prstGeom>
          <a:noFill/>
          <a:ln/>
        </p:spPr>
        <p:txBody>
          <a:bodyPr wrap="square" lIns="0" tIns="0" rIns="0" bIns="0" rtlCol="0" anchor="t"/>
          <a:lstStyle/>
          <a:p>
            <a:pPr indent="0" marL="0">
              <a:buNone/>
            </a:pPr>
            <a:r>
              <a:rPr lang="en-US" sz="1500" dirty="0">
                <a:solidFill>
                  <a:schemeClr val="tx1"/>
                </a:solidFill>
              </a:rPr>
              <a:t>Hydrology, weather and environmental feeds sit in separate national portals, each with its own format and API.</a:t>
            </a:r>
            <a:endParaRPr lang="en-US" sz="1500" dirty="0"/>
          </a:p>
        </p:txBody>
      </p:sp>
      <p:sp>
        <p:nvSpPr>
          <p:cNvPr id="13" name="Problem card 3"/>
          <p:cNvSpPr/>
          <p:nvPr/>
        </p:nvSpPr>
        <p:spPr>
          <a:xfrm>
            <a:off x="8101584" y="1463040"/>
            <a:ext cx="3502152" cy="3291840"/>
          </a:xfrm>
          <a:prstGeom prst="roundRect">
            <a:avLst>
              <a:gd name="adj" fmla="val 3333"/>
            </a:avLst>
          </a:prstGeom>
          <a:solidFill>
            <a:schemeClr val="bg2"/>
          </a:solidFill>
          <a:ln w="12700">
            <a:solidFill>
              <a:schemeClr val="bg2"/>
            </a:solidFill>
            <a:prstDash val="solid"/>
          </a:ln>
        </p:spPr>
      </p:sp>
      <p:sp>
        <p:nvSpPr>
          <p:cNvPr id="14" name="Problem 3 badge"/>
          <p:cNvSpPr/>
          <p:nvPr/>
        </p:nvSpPr>
        <p:spPr>
          <a:xfrm>
            <a:off x="8421624" y="1783080"/>
            <a:ext cx="868680" cy="868680"/>
          </a:xfrm>
          <a:prstGeom prst="ellipse">
            <a:avLst/>
          </a:prstGeom>
          <a:solidFill>
            <a:schemeClr val="accent3"/>
          </a:solidFill>
          <a:ln w="12700">
            <a:solidFill>
              <a:schemeClr val="accent3"/>
            </a:solidFill>
            <a:prstDash val="solid"/>
          </a:ln>
        </p:spPr>
      </p:sp>
      <p:pic>
        <p:nvPicPr>
          <p:cNvPr id="15" name="Problem 3 icon" descr="Problem 3">    </p:cNvPr>
          <p:cNvPicPr>
            <a:picLocks noChangeAspect="1"/>
          </p:cNvPicPr>
          <p:nvPr/>
        </p:nvPicPr>
        <p:blipFill>
          <a:blip r:embed="rId3"/>
          <a:stretch>
            <a:fillRect/>
          </a:stretch>
        </p:blipFill>
        <p:spPr>
          <a:xfrm>
            <a:off x="8647481" y="2008937"/>
            <a:ext cx="416966" cy="416966"/>
          </a:xfrm>
          <a:prstGeom prst="rect">
            <a:avLst/>
          </a:prstGeom>
        </p:spPr>
      </p:pic>
      <p:sp>
        <p:nvSpPr>
          <p:cNvPr id="16" name="Text 11"/>
          <p:cNvSpPr txBox="1"/>
          <p:nvPr/>
        </p:nvSpPr>
        <p:spPr>
          <a:xfrm>
            <a:off x="8421624" y="2880360"/>
            <a:ext cx="2880360" cy="411480"/>
          </a:xfrm>
          <a:prstGeom prst="rect">
            <a:avLst/>
          </a:prstGeom>
          <a:noFill/>
          <a:ln/>
        </p:spPr>
        <p:txBody>
          <a:bodyPr wrap="square" lIns="0" tIns="0" rIns="0" bIns="0" rtlCol="0" anchor="t"/>
          <a:lstStyle/>
          <a:p>
            <a:pPr indent="0" marL="0">
              <a:buNone/>
            </a:pPr>
            <a:r>
              <a:rPr lang="en-US" sz="2200" b="1" dirty="0">
                <a:solidFill>
                  <a:schemeClr val="tx1"/>
                </a:solidFill>
              </a:rPr>
              <a:t>No shared warning view</a:t>
            </a:r>
            <a:endParaRPr lang="en-US" sz="2200" dirty="0"/>
          </a:p>
        </p:txBody>
      </p:sp>
      <p:sp>
        <p:nvSpPr>
          <p:cNvPr id="17" name="Text 12"/>
          <p:cNvSpPr txBox="1"/>
          <p:nvPr/>
        </p:nvSpPr>
        <p:spPr>
          <a:xfrm>
            <a:off x="8421624" y="3383280"/>
            <a:ext cx="2880360" cy="1188720"/>
          </a:xfrm>
          <a:prstGeom prst="rect">
            <a:avLst/>
          </a:prstGeom>
          <a:noFill/>
          <a:ln/>
        </p:spPr>
        <p:txBody>
          <a:bodyPr wrap="square" lIns="0" tIns="0" rIns="0" bIns="0" rtlCol="0" anchor="t"/>
          <a:lstStyle/>
          <a:p>
            <a:pPr indent="0" marL="0">
              <a:buNone/>
            </a:pPr>
            <a:r>
              <a:rPr lang="en-US" sz="1500" dirty="0">
                <a:solidFill>
                  <a:schemeClr val="tx1"/>
                </a:solidFill>
              </a:rPr>
              <a:t>Operators and communities lack one explainable place to see risk, acknowledge alerts and plan ahead.</a:t>
            </a:r>
            <a:endParaRPr lang="en-US" sz="1500" dirty="0"/>
          </a:p>
        </p:txBody>
      </p:sp>
      <p:sp>
        <p:nvSpPr>
          <p:cNvPr id="18" name="Gap statement"/>
          <p:cNvSpPr/>
          <p:nvPr/>
        </p:nvSpPr>
        <p:spPr>
          <a:xfrm>
            <a:off x="548640" y="5074920"/>
            <a:ext cx="11064240" cy="960120"/>
          </a:xfrm>
          <a:prstGeom prst="roundRect">
            <a:avLst>
              <a:gd name="adj" fmla="val 11429"/>
            </a:avLst>
          </a:prstGeom>
          <a:solidFill>
            <a:schemeClr val="accent1"/>
          </a:solidFill>
          <a:ln w="12700">
            <a:solidFill>
              <a:schemeClr val="accent1"/>
            </a:solidFill>
            <a:prstDash val="solid"/>
          </a:ln>
        </p:spPr>
      </p:sp>
      <p:sp>
        <p:nvSpPr>
          <p:cNvPr id="19" name="Text 14"/>
          <p:cNvSpPr txBox="1"/>
          <p:nvPr/>
        </p:nvSpPr>
        <p:spPr>
          <a:xfrm>
            <a:off x="868680" y="5074920"/>
            <a:ext cx="10424160" cy="960120"/>
          </a:xfrm>
          <a:prstGeom prst="rect">
            <a:avLst/>
          </a:prstGeom>
          <a:noFill/>
          <a:ln/>
        </p:spPr>
        <p:txBody>
          <a:bodyPr wrap="square" lIns="0" tIns="0" rIns="0" bIns="0" rtlCol="0" anchor="ctr"/>
          <a:lstStyle/>
          <a:p>
            <a:pPr indent="0" marL="0">
              <a:buNone/>
            </a:pPr>
            <a:r>
              <a:rPr lang="en-US" sz="2200" b="1" dirty="0">
                <a:solidFill>
                  <a:schemeClr val="bg1"/>
                </a:solidFill>
              </a:rPr>
              <a:t>AquaResilience closes the gap: one shared, predictive view, from sensor to warning.</a:t>
            </a:r>
            <a:endParaRPr lang="en-US" sz="2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From open data to an actionable warning</a:t>
            </a:r>
            <a:endParaRPr lang="en-US" sz="3600" dirty="0"/>
          </a:p>
        </p:txBody>
      </p:sp>
      <p:sp>
        <p:nvSpPr>
          <p:cNvPr id="3" name="Step card 1"/>
          <p:cNvSpPr/>
          <p:nvPr/>
        </p:nvSpPr>
        <p:spPr>
          <a:xfrm>
            <a:off x="548640" y="1463040"/>
            <a:ext cx="2377440" cy="3017520"/>
          </a:xfrm>
          <a:prstGeom prst="roundRect">
            <a:avLst>
              <a:gd name="adj" fmla="val 4615"/>
            </a:avLst>
          </a:prstGeom>
          <a:solidFill>
            <a:schemeClr val="bg2"/>
          </a:solidFill>
          <a:ln w="12700">
            <a:solidFill>
              <a:schemeClr val="bg2"/>
            </a:solidFill>
            <a:prstDash val="solid"/>
          </a:ln>
        </p:spPr>
      </p:sp>
      <p:sp>
        <p:nvSpPr>
          <p:cNvPr id="4" name="Step 1 badge"/>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Step 1 icon" descr="Step 1">    </p:cNvPr>
          <p:cNvPicPr>
            <a:picLocks noChangeAspect="1"/>
          </p:cNvPicPr>
          <p:nvPr/>
        </p:nvPicPr>
        <p:blipFill>
          <a:blip r:embed="rId1"/>
          <a:stretch>
            <a:fillRect/>
          </a:stretch>
        </p:blipFill>
        <p:spPr>
          <a:xfrm>
            <a:off x="1036930" y="1951330"/>
            <a:ext cx="395021" cy="395021"/>
          </a:xfrm>
          <a:prstGeom prst="rect">
            <a:avLst/>
          </a:prstGeom>
        </p:spPr>
      </p:pic>
      <p:sp>
        <p:nvSpPr>
          <p:cNvPr id="6" name="Text 3"/>
          <p:cNvSpPr txBox="1"/>
          <p:nvPr/>
        </p:nvSpPr>
        <p:spPr>
          <a:xfrm>
            <a:off x="822960" y="2743200"/>
            <a:ext cx="1920240" cy="411480"/>
          </a:xfrm>
          <a:prstGeom prst="rect">
            <a:avLst/>
          </a:prstGeom>
          <a:noFill/>
          <a:ln/>
        </p:spPr>
        <p:txBody>
          <a:bodyPr wrap="square" lIns="0" tIns="0" rIns="0" bIns="0" rtlCol="0" anchor="t"/>
          <a:lstStyle/>
          <a:p>
            <a:pPr indent="0" marL="0">
              <a:buNone/>
            </a:pPr>
            <a:r>
              <a:rPr lang="en-US" sz="2200" b="1" dirty="0">
                <a:solidFill>
                  <a:schemeClr val="tx1"/>
                </a:solidFill>
              </a:rPr>
              <a:t>1  Ingest</a:t>
            </a:r>
            <a:endParaRPr lang="en-US" sz="2200" dirty="0"/>
          </a:p>
        </p:txBody>
      </p:sp>
      <p:sp>
        <p:nvSpPr>
          <p:cNvPr id="7" name="Text 4"/>
          <p:cNvSpPr txBox="1"/>
          <p:nvPr/>
        </p:nvSpPr>
        <p:spPr>
          <a:xfrm>
            <a:off x="822960" y="3246120"/>
            <a:ext cx="1920240" cy="1143000"/>
          </a:xfrm>
          <a:prstGeom prst="rect">
            <a:avLst/>
          </a:prstGeom>
          <a:noFill/>
          <a:ln/>
        </p:spPr>
        <p:txBody>
          <a:bodyPr wrap="square" lIns="0" tIns="0" rIns="0" bIns="0" rtlCol="0" anchor="t"/>
          <a:lstStyle/>
          <a:p>
            <a:pPr indent="0" marL="0">
              <a:buNone/>
            </a:pPr>
            <a:r>
              <a:rPr lang="en-US" sz="1500" dirty="0">
                <a:solidFill>
                  <a:schemeClr val="tx1"/>
                </a:solidFill>
              </a:rPr>
              <a:t>Open hydrology and weather APIs, through reusable connectors.</a:t>
            </a:r>
            <a:endParaRPr lang="en-US" sz="1500" dirty="0"/>
          </a:p>
        </p:txBody>
      </p:sp>
      <p:sp>
        <p:nvSpPr>
          <p:cNvPr id="8" name="Arrow 1"/>
          <p:cNvSpPr/>
          <p:nvPr/>
        </p:nvSpPr>
        <p:spPr>
          <a:xfrm>
            <a:off x="2999232" y="2788920"/>
            <a:ext cx="365760" cy="365760"/>
          </a:xfrm>
          <a:prstGeom prst="rightArrow">
            <a:avLst/>
          </a:prstGeom>
          <a:solidFill>
            <a:schemeClr val="tx2"/>
          </a:solidFill>
          <a:ln w="12700">
            <a:solidFill>
              <a:schemeClr val="tx2"/>
            </a:solidFill>
            <a:prstDash val="solid"/>
          </a:ln>
        </p:spPr>
      </p:sp>
      <p:sp>
        <p:nvSpPr>
          <p:cNvPr id="9" name="Step card 2"/>
          <p:cNvSpPr/>
          <p:nvPr/>
        </p:nvSpPr>
        <p:spPr>
          <a:xfrm>
            <a:off x="3444545" y="1463040"/>
            <a:ext cx="2377440" cy="3017520"/>
          </a:xfrm>
          <a:prstGeom prst="roundRect">
            <a:avLst>
              <a:gd name="adj" fmla="val 4615"/>
            </a:avLst>
          </a:prstGeom>
          <a:solidFill>
            <a:schemeClr val="bg2"/>
          </a:solidFill>
          <a:ln w="12700">
            <a:solidFill>
              <a:schemeClr val="bg2"/>
            </a:solidFill>
            <a:prstDash val="solid"/>
          </a:ln>
        </p:spPr>
      </p:sp>
      <p:sp>
        <p:nvSpPr>
          <p:cNvPr id="10" name="Step 2 badge"/>
          <p:cNvSpPr/>
          <p:nvPr/>
        </p:nvSpPr>
        <p:spPr>
          <a:xfrm>
            <a:off x="3718865" y="1737360"/>
            <a:ext cx="822960" cy="822960"/>
          </a:xfrm>
          <a:prstGeom prst="ellipse">
            <a:avLst/>
          </a:prstGeom>
          <a:solidFill>
            <a:schemeClr val="accent2"/>
          </a:solidFill>
          <a:ln w="12700">
            <a:solidFill>
              <a:schemeClr val="accent2"/>
            </a:solidFill>
            <a:prstDash val="solid"/>
          </a:ln>
        </p:spPr>
      </p:sp>
      <p:pic>
        <p:nvPicPr>
          <p:cNvPr id="11" name="Step 2 icon" descr="Step 2">    </p:cNvPr>
          <p:cNvPicPr>
            <a:picLocks noChangeAspect="1"/>
          </p:cNvPicPr>
          <p:nvPr/>
        </p:nvPicPr>
        <p:blipFill>
          <a:blip r:embed="rId2"/>
          <a:stretch>
            <a:fillRect/>
          </a:stretch>
        </p:blipFill>
        <p:spPr>
          <a:xfrm>
            <a:off x="3932834" y="1951330"/>
            <a:ext cx="395021" cy="395021"/>
          </a:xfrm>
          <a:prstGeom prst="rect">
            <a:avLst/>
          </a:prstGeom>
        </p:spPr>
      </p:pic>
      <p:sp>
        <p:nvSpPr>
          <p:cNvPr id="12" name="Text 8"/>
          <p:cNvSpPr txBox="1"/>
          <p:nvPr/>
        </p:nvSpPr>
        <p:spPr>
          <a:xfrm>
            <a:off x="3718865" y="2743200"/>
            <a:ext cx="1920240" cy="411480"/>
          </a:xfrm>
          <a:prstGeom prst="rect">
            <a:avLst/>
          </a:prstGeom>
          <a:noFill/>
          <a:ln/>
        </p:spPr>
        <p:txBody>
          <a:bodyPr wrap="square" lIns="0" tIns="0" rIns="0" bIns="0" rtlCol="0" anchor="t"/>
          <a:lstStyle/>
          <a:p>
            <a:pPr indent="0" marL="0">
              <a:buNone/>
            </a:pPr>
            <a:r>
              <a:rPr lang="en-US" sz="2200" b="1" dirty="0">
                <a:solidFill>
                  <a:schemeClr val="tx1"/>
                </a:solidFill>
              </a:rPr>
              <a:t>2  Score</a:t>
            </a:r>
            <a:endParaRPr lang="en-US" sz="2200" dirty="0"/>
          </a:p>
        </p:txBody>
      </p:sp>
      <p:sp>
        <p:nvSpPr>
          <p:cNvPr id="13" name="Text 9"/>
          <p:cNvSpPr txBox="1"/>
          <p:nvPr/>
        </p:nvSpPr>
        <p:spPr>
          <a:xfrm>
            <a:off x="3718865" y="3246120"/>
            <a:ext cx="1920240" cy="1143000"/>
          </a:xfrm>
          <a:prstGeom prst="rect">
            <a:avLst/>
          </a:prstGeom>
          <a:noFill/>
          <a:ln/>
        </p:spPr>
        <p:txBody>
          <a:bodyPr wrap="square" lIns="0" tIns="0" rIns="0" bIns="0" rtlCol="0" anchor="t"/>
          <a:lstStyle/>
          <a:p>
            <a:pPr indent="0" marL="0">
              <a:buNone/>
            </a:pPr>
            <a:r>
              <a:rPr lang="en-US" sz="1500" dirty="0">
                <a:solidFill>
                  <a:schemeClr val="tx1"/>
                </a:solidFill>
              </a:rPr>
              <a:t>Four weighted factors become one explainable 0–100 risk score.</a:t>
            </a:r>
            <a:endParaRPr lang="en-US" sz="1500" dirty="0"/>
          </a:p>
        </p:txBody>
      </p:sp>
      <p:sp>
        <p:nvSpPr>
          <p:cNvPr id="14" name="Arrow 2"/>
          <p:cNvSpPr/>
          <p:nvPr/>
        </p:nvSpPr>
        <p:spPr>
          <a:xfrm>
            <a:off x="5895137" y="2788920"/>
            <a:ext cx="365760" cy="365760"/>
          </a:xfrm>
          <a:prstGeom prst="rightArrow">
            <a:avLst/>
          </a:prstGeom>
          <a:solidFill>
            <a:schemeClr val="tx2"/>
          </a:solidFill>
          <a:ln w="12700">
            <a:solidFill>
              <a:schemeClr val="tx2"/>
            </a:solidFill>
            <a:prstDash val="solid"/>
          </a:ln>
        </p:spPr>
      </p:sp>
      <p:sp>
        <p:nvSpPr>
          <p:cNvPr id="15" name="Step card 3"/>
          <p:cNvSpPr/>
          <p:nvPr/>
        </p:nvSpPr>
        <p:spPr>
          <a:xfrm>
            <a:off x="6340450" y="1463040"/>
            <a:ext cx="2377440" cy="3017520"/>
          </a:xfrm>
          <a:prstGeom prst="roundRect">
            <a:avLst>
              <a:gd name="adj" fmla="val 4615"/>
            </a:avLst>
          </a:prstGeom>
          <a:solidFill>
            <a:schemeClr val="bg2"/>
          </a:solidFill>
          <a:ln w="12700">
            <a:solidFill>
              <a:schemeClr val="bg2"/>
            </a:solidFill>
            <a:prstDash val="solid"/>
          </a:ln>
        </p:spPr>
      </p:sp>
      <p:sp>
        <p:nvSpPr>
          <p:cNvPr id="16" name="Step 3 badge"/>
          <p:cNvSpPr/>
          <p:nvPr/>
        </p:nvSpPr>
        <p:spPr>
          <a:xfrm>
            <a:off x="6614770" y="1737360"/>
            <a:ext cx="822960" cy="822960"/>
          </a:xfrm>
          <a:prstGeom prst="ellipse">
            <a:avLst/>
          </a:prstGeom>
          <a:solidFill>
            <a:schemeClr val="accent5"/>
          </a:solidFill>
          <a:ln w="12700">
            <a:solidFill>
              <a:schemeClr val="accent5"/>
            </a:solidFill>
            <a:prstDash val="solid"/>
          </a:ln>
        </p:spPr>
      </p:sp>
      <p:pic>
        <p:nvPicPr>
          <p:cNvPr id="17" name="Step 3 icon" descr="Step 3">    </p:cNvPr>
          <p:cNvPicPr>
            <a:picLocks noChangeAspect="1"/>
          </p:cNvPicPr>
          <p:nvPr/>
        </p:nvPicPr>
        <p:blipFill>
          <a:blip r:embed="rId3"/>
          <a:stretch>
            <a:fillRect/>
          </a:stretch>
        </p:blipFill>
        <p:spPr>
          <a:xfrm>
            <a:off x="6828739" y="1951330"/>
            <a:ext cx="395021" cy="395021"/>
          </a:xfrm>
          <a:prstGeom prst="rect">
            <a:avLst/>
          </a:prstGeom>
        </p:spPr>
      </p:pic>
      <p:sp>
        <p:nvSpPr>
          <p:cNvPr id="18" name="Text 13"/>
          <p:cNvSpPr txBox="1"/>
          <p:nvPr/>
        </p:nvSpPr>
        <p:spPr>
          <a:xfrm>
            <a:off x="6614770" y="2743200"/>
            <a:ext cx="1920240" cy="411480"/>
          </a:xfrm>
          <a:prstGeom prst="rect">
            <a:avLst/>
          </a:prstGeom>
          <a:noFill/>
          <a:ln/>
        </p:spPr>
        <p:txBody>
          <a:bodyPr wrap="square" lIns="0" tIns="0" rIns="0" bIns="0" rtlCol="0" anchor="t"/>
          <a:lstStyle/>
          <a:p>
            <a:pPr indent="0" marL="0">
              <a:buNone/>
            </a:pPr>
            <a:r>
              <a:rPr lang="en-US" sz="2200" b="1" dirty="0">
                <a:solidFill>
                  <a:schemeClr val="tx1"/>
                </a:solidFill>
              </a:rPr>
              <a:t>3  Warn</a:t>
            </a:r>
            <a:endParaRPr lang="en-US" sz="2200" dirty="0"/>
          </a:p>
        </p:txBody>
      </p:sp>
      <p:sp>
        <p:nvSpPr>
          <p:cNvPr id="19" name="Text 14"/>
          <p:cNvSpPr txBox="1"/>
          <p:nvPr/>
        </p:nvSpPr>
        <p:spPr>
          <a:xfrm>
            <a:off x="6614770" y="3246120"/>
            <a:ext cx="1920240" cy="1143000"/>
          </a:xfrm>
          <a:prstGeom prst="rect">
            <a:avLst/>
          </a:prstGeom>
          <a:noFill/>
          <a:ln/>
        </p:spPr>
        <p:txBody>
          <a:bodyPr wrap="square" lIns="0" tIns="0" rIns="0" bIns="0" rtlCol="0" anchor="t"/>
          <a:lstStyle/>
          <a:p>
            <a:pPr indent="0" marL="0">
              <a:buNone/>
            </a:pPr>
            <a:r>
              <a:rPr lang="en-US" sz="1500" dirty="0">
                <a:solidFill>
                  <a:schemeClr val="tx1"/>
                </a:solidFill>
              </a:rPr>
              <a:t>Threshold-based early warnings: Active, Acknowledged, Resolved.</a:t>
            </a:r>
            <a:endParaRPr lang="en-US" sz="1500" dirty="0"/>
          </a:p>
        </p:txBody>
      </p:sp>
      <p:sp>
        <p:nvSpPr>
          <p:cNvPr id="20" name="Arrow 3"/>
          <p:cNvSpPr/>
          <p:nvPr/>
        </p:nvSpPr>
        <p:spPr>
          <a:xfrm>
            <a:off x="8791042" y="2788920"/>
            <a:ext cx="365760" cy="365760"/>
          </a:xfrm>
          <a:prstGeom prst="rightArrow">
            <a:avLst/>
          </a:prstGeom>
          <a:solidFill>
            <a:schemeClr val="tx2"/>
          </a:solidFill>
          <a:ln w="12700">
            <a:solidFill>
              <a:schemeClr val="tx2"/>
            </a:solidFill>
            <a:prstDash val="solid"/>
          </a:ln>
        </p:spPr>
      </p:sp>
      <p:sp>
        <p:nvSpPr>
          <p:cNvPr id="21" name="Step card 4"/>
          <p:cNvSpPr/>
          <p:nvPr/>
        </p:nvSpPr>
        <p:spPr>
          <a:xfrm>
            <a:off x="9236354" y="1463040"/>
            <a:ext cx="2377440" cy="3017520"/>
          </a:xfrm>
          <a:prstGeom prst="roundRect">
            <a:avLst>
              <a:gd name="adj" fmla="val 4615"/>
            </a:avLst>
          </a:prstGeom>
          <a:solidFill>
            <a:schemeClr val="bg2"/>
          </a:solidFill>
          <a:ln w="12700">
            <a:solidFill>
              <a:schemeClr val="bg2"/>
            </a:solidFill>
            <a:prstDash val="solid"/>
          </a:ln>
        </p:spPr>
      </p:sp>
      <p:sp>
        <p:nvSpPr>
          <p:cNvPr id="22" name="Step 4 badge"/>
          <p:cNvSpPr/>
          <p:nvPr/>
        </p:nvSpPr>
        <p:spPr>
          <a:xfrm>
            <a:off x="9510674" y="1737360"/>
            <a:ext cx="822960" cy="822960"/>
          </a:xfrm>
          <a:prstGeom prst="ellipse">
            <a:avLst/>
          </a:prstGeom>
          <a:solidFill>
            <a:schemeClr val="accent3"/>
          </a:solidFill>
          <a:ln w="12700">
            <a:solidFill>
              <a:schemeClr val="accent3"/>
            </a:solidFill>
            <a:prstDash val="solid"/>
          </a:ln>
        </p:spPr>
      </p:sp>
      <p:pic>
        <p:nvPicPr>
          <p:cNvPr id="23" name="Step 4 icon" descr="Step 4">    </p:cNvPr>
          <p:cNvPicPr>
            <a:picLocks noChangeAspect="1"/>
          </p:cNvPicPr>
          <p:nvPr/>
        </p:nvPicPr>
        <p:blipFill>
          <a:blip r:embed="rId4"/>
          <a:stretch>
            <a:fillRect/>
          </a:stretch>
        </p:blipFill>
        <p:spPr>
          <a:xfrm>
            <a:off x="9724644" y="1951330"/>
            <a:ext cx="395021" cy="395021"/>
          </a:xfrm>
          <a:prstGeom prst="rect">
            <a:avLst/>
          </a:prstGeom>
        </p:spPr>
      </p:pic>
      <p:sp>
        <p:nvSpPr>
          <p:cNvPr id="24" name="Text 18"/>
          <p:cNvSpPr txBox="1"/>
          <p:nvPr/>
        </p:nvSpPr>
        <p:spPr>
          <a:xfrm>
            <a:off x="9510674" y="2743200"/>
            <a:ext cx="1920240" cy="411480"/>
          </a:xfrm>
          <a:prstGeom prst="rect">
            <a:avLst/>
          </a:prstGeom>
          <a:noFill/>
          <a:ln/>
        </p:spPr>
        <p:txBody>
          <a:bodyPr wrap="square" lIns="0" tIns="0" rIns="0" bIns="0" rtlCol="0" anchor="t"/>
          <a:lstStyle/>
          <a:p>
            <a:pPr indent="0" marL="0">
              <a:buNone/>
            </a:pPr>
            <a:r>
              <a:rPr lang="en-US" sz="2200" b="1" dirty="0">
                <a:solidFill>
                  <a:schemeClr val="tx1"/>
                </a:solidFill>
              </a:rPr>
              <a:t>4  Explain</a:t>
            </a:r>
            <a:endParaRPr lang="en-US" sz="2200" dirty="0"/>
          </a:p>
        </p:txBody>
      </p:sp>
      <p:sp>
        <p:nvSpPr>
          <p:cNvPr id="25" name="Text 19"/>
          <p:cNvSpPr txBox="1"/>
          <p:nvPr/>
        </p:nvSpPr>
        <p:spPr>
          <a:xfrm>
            <a:off x="9510674" y="3246120"/>
            <a:ext cx="1920240" cy="1143000"/>
          </a:xfrm>
          <a:prstGeom prst="rect">
            <a:avLst/>
          </a:prstGeom>
          <a:noFill/>
          <a:ln/>
        </p:spPr>
        <p:txBody>
          <a:bodyPr wrap="square" lIns="0" tIns="0" rIns="0" bIns="0" rtlCol="0" anchor="t"/>
          <a:lstStyle/>
          <a:p>
            <a:pPr indent="0" marL="0">
              <a:buNone/>
            </a:pPr>
            <a:r>
              <a:rPr lang="en-US" sz="1500" dirty="0">
                <a:solidFill>
                  <a:schemeClr val="tx1"/>
                </a:solidFill>
              </a:rPr>
              <a:t>A validated AI situation brief per city, within a strict budget.</a:t>
            </a:r>
            <a:endParaRPr lang="en-US" sz="1500" dirty="0"/>
          </a:p>
        </p:txBody>
      </p:sp>
      <p:sp>
        <p:nvSpPr>
          <p:cNvPr id="26" name="Text 20"/>
          <p:cNvSpPr txBox="1"/>
          <p:nvPr/>
        </p:nvSpPr>
        <p:spPr>
          <a:xfrm>
            <a:off x="548640" y="4800600"/>
            <a:ext cx="11064240" cy="320040"/>
          </a:xfrm>
          <a:prstGeom prst="rect">
            <a:avLst/>
          </a:prstGeom>
          <a:noFill/>
          <a:ln/>
        </p:spPr>
        <p:txBody>
          <a:bodyPr wrap="square" lIns="0" tIns="0" rIns="0" bIns="0" rtlCol="0" anchor="t"/>
          <a:lstStyle/>
          <a:p>
            <a:pPr indent="0" marL="0">
              <a:buNone/>
            </a:pPr>
            <a:r>
              <a:rPr lang="en-US" sz="1400" b="1" dirty="0">
                <a:solidFill>
                  <a:schemeClr val="tx2"/>
                </a:solidFill>
              </a:rPr>
              <a:t>Open data sources, one connector each</a:t>
            </a:r>
            <a:endParaRPr lang="en-US" sz="1400" dirty="0"/>
          </a:p>
        </p:txBody>
      </p:sp>
      <p:sp>
        <p:nvSpPr>
          <p:cNvPr id="27" name="Source chip 1"/>
          <p:cNvSpPr/>
          <p:nvPr/>
        </p:nvSpPr>
        <p:spPr>
          <a:xfrm>
            <a:off x="548640" y="5257800"/>
            <a:ext cx="2103120" cy="548640"/>
          </a:xfrm>
          <a:prstGeom prst="roundRect">
            <a:avLst>
              <a:gd name="adj" fmla="val 50000"/>
            </a:avLst>
          </a:prstGeom>
          <a:solidFill>
            <a:schemeClr val="bg2"/>
          </a:solidFill>
          <a:ln w="12700">
            <a:solidFill>
              <a:srgbClr val="CFDBE6"/>
            </a:solidFill>
            <a:prstDash val="solid"/>
          </a:ln>
        </p:spPr>
      </p:sp>
      <p:sp>
        <p:nvSpPr>
          <p:cNvPr id="28" name="Text 22"/>
          <p:cNvSpPr txBox="1"/>
          <p:nvPr/>
        </p:nvSpPr>
        <p:spPr>
          <a:xfrm>
            <a:off x="548640" y="5257800"/>
            <a:ext cx="2103120" cy="548640"/>
          </a:xfrm>
          <a:prstGeom prst="rect">
            <a:avLst/>
          </a:prstGeom>
          <a:noFill/>
          <a:ln/>
        </p:spPr>
        <p:txBody>
          <a:bodyPr wrap="square" lIns="0" tIns="0" rIns="0" bIns="0" rtlCol="0" anchor="ctr"/>
          <a:lstStyle/>
          <a:p>
            <a:pPr algn="ctr" indent="0" marL="0">
              <a:buNone/>
            </a:pPr>
            <a:r>
              <a:rPr lang="en-US" sz="1400" b="1" dirty="0">
                <a:solidFill>
                  <a:schemeClr val="tx2"/>
                </a:solidFill>
              </a:rPr>
              <a:t>Hub'Eau · Toulouse</a:t>
            </a:r>
            <a:endParaRPr lang="en-US" sz="1400" dirty="0"/>
          </a:p>
        </p:txBody>
      </p:sp>
      <p:sp>
        <p:nvSpPr>
          <p:cNvPr id="29" name="Source chip 2"/>
          <p:cNvSpPr/>
          <p:nvPr/>
        </p:nvSpPr>
        <p:spPr>
          <a:xfrm>
            <a:off x="2788920" y="5257800"/>
            <a:ext cx="2103120" cy="548640"/>
          </a:xfrm>
          <a:prstGeom prst="roundRect">
            <a:avLst>
              <a:gd name="adj" fmla="val 50000"/>
            </a:avLst>
          </a:prstGeom>
          <a:solidFill>
            <a:schemeClr val="bg2"/>
          </a:solidFill>
          <a:ln w="12700">
            <a:solidFill>
              <a:srgbClr val="CFDBE6"/>
            </a:solidFill>
            <a:prstDash val="solid"/>
          </a:ln>
        </p:spPr>
      </p:sp>
      <p:sp>
        <p:nvSpPr>
          <p:cNvPr id="30" name="Text 24"/>
          <p:cNvSpPr txBox="1"/>
          <p:nvPr/>
        </p:nvSpPr>
        <p:spPr>
          <a:xfrm>
            <a:off x="2788920" y="5257800"/>
            <a:ext cx="2103120" cy="548640"/>
          </a:xfrm>
          <a:prstGeom prst="rect">
            <a:avLst/>
          </a:prstGeom>
          <a:noFill/>
          <a:ln/>
        </p:spPr>
        <p:txBody>
          <a:bodyPr wrap="square" lIns="0" tIns="0" rIns="0" bIns="0" rtlCol="0" anchor="ctr"/>
          <a:lstStyle/>
          <a:p>
            <a:pPr algn="ctr" indent="0" marL="0">
              <a:buNone/>
            </a:pPr>
            <a:r>
              <a:rPr lang="en-US" sz="1400" b="1" dirty="0">
                <a:solidFill>
                  <a:schemeClr val="tx2"/>
                </a:solidFill>
              </a:rPr>
              <a:t>Open-Meteo · Toulouse</a:t>
            </a:r>
            <a:endParaRPr lang="en-US" sz="1400" dirty="0"/>
          </a:p>
        </p:txBody>
      </p:sp>
      <p:sp>
        <p:nvSpPr>
          <p:cNvPr id="31" name="Source chip 3"/>
          <p:cNvSpPr/>
          <p:nvPr/>
        </p:nvSpPr>
        <p:spPr>
          <a:xfrm>
            <a:off x="5029200" y="5257800"/>
            <a:ext cx="2103120" cy="548640"/>
          </a:xfrm>
          <a:prstGeom prst="roundRect">
            <a:avLst>
              <a:gd name="adj" fmla="val 50000"/>
            </a:avLst>
          </a:prstGeom>
          <a:solidFill>
            <a:schemeClr val="bg2"/>
          </a:solidFill>
          <a:ln w="12700">
            <a:solidFill>
              <a:srgbClr val="CFDBE6"/>
            </a:solidFill>
            <a:prstDash val="solid"/>
          </a:ln>
        </p:spPr>
      </p:sp>
      <p:sp>
        <p:nvSpPr>
          <p:cNvPr id="32" name="Text 26"/>
          <p:cNvSpPr txBox="1"/>
          <p:nvPr/>
        </p:nvSpPr>
        <p:spPr>
          <a:xfrm>
            <a:off x="5029200" y="5257800"/>
            <a:ext cx="2103120" cy="548640"/>
          </a:xfrm>
          <a:prstGeom prst="rect">
            <a:avLst/>
          </a:prstGeom>
          <a:noFill/>
          <a:ln/>
        </p:spPr>
        <p:txBody>
          <a:bodyPr wrap="square" lIns="0" tIns="0" rIns="0" bIns="0" rtlCol="0" anchor="ctr"/>
          <a:lstStyle/>
          <a:p>
            <a:pPr algn="ctr" indent="0" marL="0">
              <a:buNone/>
            </a:pPr>
            <a:r>
              <a:rPr lang="en-US" sz="1400" b="1" dirty="0">
                <a:solidFill>
                  <a:schemeClr val="tx2"/>
                </a:solidFill>
              </a:rPr>
              <a:t>eHYD · Vienna</a:t>
            </a:r>
            <a:endParaRPr lang="en-US" sz="1400" dirty="0"/>
          </a:p>
        </p:txBody>
      </p:sp>
      <p:sp>
        <p:nvSpPr>
          <p:cNvPr id="33" name="Source chip 4"/>
          <p:cNvSpPr/>
          <p:nvPr/>
        </p:nvSpPr>
        <p:spPr>
          <a:xfrm>
            <a:off x="7269480" y="5257800"/>
            <a:ext cx="2103120" cy="548640"/>
          </a:xfrm>
          <a:prstGeom prst="roundRect">
            <a:avLst>
              <a:gd name="adj" fmla="val 50000"/>
            </a:avLst>
          </a:prstGeom>
          <a:solidFill>
            <a:schemeClr val="bg2"/>
          </a:solidFill>
          <a:ln w="12700">
            <a:solidFill>
              <a:srgbClr val="CFDBE6"/>
            </a:solidFill>
            <a:prstDash val="solid"/>
          </a:ln>
        </p:spPr>
      </p:sp>
      <p:sp>
        <p:nvSpPr>
          <p:cNvPr id="34" name="Text 28"/>
          <p:cNvSpPr txBox="1"/>
          <p:nvPr/>
        </p:nvSpPr>
        <p:spPr>
          <a:xfrm>
            <a:off x="7269480" y="5257800"/>
            <a:ext cx="2103120" cy="548640"/>
          </a:xfrm>
          <a:prstGeom prst="rect">
            <a:avLst/>
          </a:prstGeom>
          <a:noFill/>
          <a:ln/>
        </p:spPr>
        <p:txBody>
          <a:bodyPr wrap="square" lIns="0" tIns="0" rIns="0" bIns="0" rtlCol="0" anchor="ctr"/>
          <a:lstStyle/>
          <a:p>
            <a:pPr algn="ctr" indent="0" marL="0">
              <a:buNone/>
            </a:pPr>
            <a:r>
              <a:rPr lang="en-US" sz="1400" b="1" dirty="0">
                <a:solidFill>
                  <a:schemeClr val="tx2"/>
                </a:solidFill>
              </a:rPr>
              <a:t>Waterinfo.be · Ghent</a:t>
            </a:r>
            <a:endParaRPr lang="en-US" sz="1400" dirty="0"/>
          </a:p>
        </p:txBody>
      </p:sp>
      <p:sp>
        <p:nvSpPr>
          <p:cNvPr id="35" name="Source chip 5"/>
          <p:cNvSpPr/>
          <p:nvPr/>
        </p:nvSpPr>
        <p:spPr>
          <a:xfrm>
            <a:off x="9509760" y="5257800"/>
            <a:ext cx="2103120" cy="548640"/>
          </a:xfrm>
          <a:prstGeom prst="roundRect">
            <a:avLst>
              <a:gd name="adj" fmla="val 50000"/>
            </a:avLst>
          </a:prstGeom>
          <a:solidFill>
            <a:schemeClr val="bg2"/>
          </a:solidFill>
          <a:ln w="12700">
            <a:solidFill>
              <a:srgbClr val="CFDBE6"/>
            </a:solidFill>
            <a:prstDash val="solid"/>
          </a:ln>
        </p:spPr>
      </p:sp>
      <p:sp>
        <p:nvSpPr>
          <p:cNvPr id="36" name="Text 30"/>
          <p:cNvSpPr txBox="1"/>
          <p:nvPr/>
        </p:nvSpPr>
        <p:spPr>
          <a:xfrm>
            <a:off x="9509760" y="5257800"/>
            <a:ext cx="2103120" cy="548640"/>
          </a:xfrm>
          <a:prstGeom prst="rect">
            <a:avLst/>
          </a:prstGeom>
          <a:noFill/>
          <a:ln/>
        </p:spPr>
        <p:txBody>
          <a:bodyPr wrap="square" lIns="0" tIns="0" rIns="0" bIns="0" rtlCol="0" anchor="ctr"/>
          <a:lstStyle/>
          <a:p>
            <a:pPr algn="ctr" indent="0" marL="0">
              <a:buNone/>
            </a:pPr>
            <a:r>
              <a:rPr lang="en-US" sz="1400" b="1" dirty="0">
                <a:solidFill>
                  <a:schemeClr val="tx2"/>
                </a:solidFill>
              </a:rPr>
              <a:t>NVE HydAPI · Oslo</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Healthy waters, ecosystems and communities</a:t>
            </a:r>
            <a:endParaRPr lang="en-US" sz="3600" dirty="0"/>
          </a:p>
        </p:txBody>
      </p:sp>
      <p:sp>
        <p:nvSpPr>
          <p:cNvPr id="3" name="Water circle"/>
          <p:cNvSpPr/>
          <p:nvPr/>
        </p:nvSpPr>
        <p:spPr>
          <a:xfrm>
            <a:off x="1508760" y="1737360"/>
            <a:ext cx="2468880" cy="2468880"/>
          </a:xfrm>
          <a:prstGeom prst="ellipse">
            <a:avLst/>
          </a:prstGeom>
          <a:solidFill>
            <a:schemeClr val="accent1">
              <a:alpha val="45000"/>
            </a:schemeClr>
          </a:solidFill>
          <a:ln w="25400">
            <a:solidFill>
              <a:schemeClr val="accent1"/>
            </a:solidFill>
            <a:prstDash val="solid"/>
          </a:ln>
        </p:spPr>
      </p:sp>
      <p:sp>
        <p:nvSpPr>
          <p:cNvPr id="4" name="Ecosystems circle"/>
          <p:cNvSpPr/>
          <p:nvPr/>
        </p:nvSpPr>
        <p:spPr>
          <a:xfrm>
            <a:off x="3200400" y="1737360"/>
            <a:ext cx="2468880" cy="2468880"/>
          </a:xfrm>
          <a:prstGeom prst="ellipse">
            <a:avLst/>
          </a:prstGeom>
          <a:solidFill>
            <a:schemeClr val="accent3">
              <a:alpha val="45000"/>
            </a:schemeClr>
          </a:solidFill>
          <a:ln w="25400">
            <a:solidFill>
              <a:schemeClr val="accent3"/>
            </a:solidFill>
            <a:prstDash val="solid"/>
          </a:ln>
        </p:spPr>
      </p:sp>
      <p:sp>
        <p:nvSpPr>
          <p:cNvPr id="5" name="Communities circle"/>
          <p:cNvSpPr/>
          <p:nvPr/>
        </p:nvSpPr>
        <p:spPr>
          <a:xfrm>
            <a:off x="2354580" y="3200400"/>
            <a:ext cx="2468880" cy="2468880"/>
          </a:xfrm>
          <a:prstGeom prst="ellipse">
            <a:avLst/>
          </a:prstGeom>
          <a:solidFill>
            <a:schemeClr val="accent2">
              <a:alpha val="45000"/>
            </a:schemeClr>
          </a:solidFill>
          <a:ln w="25400">
            <a:solidFill>
              <a:schemeClr val="accent2"/>
            </a:solidFill>
            <a:prstDash val="solid"/>
          </a:ln>
        </p:spPr>
      </p:sp>
      <p:sp>
        <p:nvSpPr>
          <p:cNvPr id="6" name="Text 4"/>
          <p:cNvSpPr txBox="1"/>
          <p:nvPr/>
        </p:nvSpPr>
        <p:spPr>
          <a:xfrm>
            <a:off x="1600200" y="2423160"/>
            <a:ext cx="1371600" cy="365760"/>
          </a:xfrm>
          <a:prstGeom prst="rect">
            <a:avLst/>
          </a:prstGeom>
          <a:noFill/>
          <a:ln/>
        </p:spPr>
        <p:txBody>
          <a:bodyPr wrap="square" lIns="0" tIns="0" rIns="0" bIns="0" rtlCol="0" anchor="t"/>
          <a:lstStyle/>
          <a:p>
            <a:pPr algn="ctr" indent="0" marL="0">
              <a:buNone/>
            </a:pPr>
            <a:r>
              <a:rPr lang="en-US" sz="2000" b="1" dirty="0">
                <a:solidFill>
                  <a:schemeClr val="tx1"/>
                </a:solidFill>
              </a:rPr>
              <a:t>Waters</a:t>
            </a:r>
            <a:endParaRPr lang="en-US" sz="2000" dirty="0"/>
          </a:p>
        </p:txBody>
      </p:sp>
      <p:sp>
        <p:nvSpPr>
          <p:cNvPr id="7" name="Text 5"/>
          <p:cNvSpPr txBox="1"/>
          <p:nvPr/>
        </p:nvSpPr>
        <p:spPr>
          <a:xfrm>
            <a:off x="4160520" y="2423160"/>
            <a:ext cx="1554480" cy="365760"/>
          </a:xfrm>
          <a:prstGeom prst="rect">
            <a:avLst/>
          </a:prstGeom>
          <a:noFill/>
          <a:ln/>
        </p:spPr>
        <p:txBody>
          <a:bodyPr wrap="square" lIns="0" tIns="0" rIns="0" bIns="0" rtlCol="0" anchor="t"/>
          <a:lstStyle/>
          <a:p>
            <a:pPr algn="ctr" indent="0" marL="0">
              <a:buNone/>
            </a:pPr>
            <a:r>
              <a:rPr lang="en-US" sz="2000" b="1" dirty="0">
                <a:solidFill>
                  <a:schemeClr val="tx1"/>
                </a:solidFill>
              </a:rPr>
              <a:t>Ecosystems</a:t>
            </a:r>
            <a:endParaRPr lang="en-US" sz="2000" dirty="0"/>
          </a:p>
        </p:txBody>
      </p:sp>
      <p:sp>
        <p:nvSpPr>
          <p:cNvPr id="8" name="Text 6"/>
          <p:cNvSpPr txBox="1"/>
          <p:nvPr/>
        </p:nvSpPr>
        <p:spPr>
          <a:xfrm>
            <a:off x="2743200" y="5120640"/>
            <a:ext cx="1691640" cy="365760"/>
          </a:xfrm>
          <a:prstGeom prst="rect">
            <a:avLst/>
          </a:prstGeom>
          <a:noFill/>
          <a:ln/>
        </p:spPr>
        <p:txBody>
          <a:bodyPr wrap="square" lIns="0" tIns="0" rIns="0" bIns="0" rtlCol="0" anchor="t"/>
          <a:lstStyle/>
          <a:p>
            <a:pPr algn="ctr" indent="0" marL="0">
              <a:buNone/>
            </a:pPr>
            <a:r>
              <a:rPr lang="en-US" sz="2000" b="1" dirty="0">
                <a:solidFill>
                  <a:schemeClr val="tx1"/>
                </a:solidFill>
              </a:rPr>
              <a:t>Communities</a:t>
            </a:r>
            <a:endParaRPr lang="en-US" sz="2000" dirty="0"/>
          </a:p>
        </p:txBody>
      </p:sp>
      <p:sp>
        <p:nvSpPr>
          <p:cNvPr id="9" name="Text 7"/>
          <p:cNvSpPr txBox="1"/>
          <p:nvPr/>
        </p:nvSpPr>
        <p:spPr>
          <a:xfrm>
            <a:off x="2926080" y="3566160"/>
            <a:ext cx="1325880" cy="320040"/>
          </a:xfrm>
          <a:prstGeom prst="rect">
            <a:avLst/>
          </a:prstGeom>
          <a:noFill/>
          <a:ln/>
        </p:spPr>
        <p:txBody>
          <a:bodyPr wrap="square" lIns="0" tIns="0" rIns="0" bIns="0" rtlCol="0" anchor="t"/>
          <a:lstStyle/>
          <a:p>
            <a:pPr algn="ctr" indent="0" marL="0">
              <a:buNone/>
            </a:pPr>
            <a:r>
              <a:rPr lang="en-US" sz="1600" b="1" dirty="0">
                <a:solidFill>
                  <a:schemeClr val="tx1"/>
                </a:solidFill>
              </a:rPr>
              <a:t>One Health</a:t>
            </a:r>
            <a:endParaRPr lang="en-US" sz="1600" dirty="0"/>
          </a:p>
        </p:txBody>
      </p:sp>
      <p:sp>
        <p:nvSpPr>
          <p:cNvPr id="10" name="Track statement"/>
          <p:cNvSpPr/>
          <p:nvPr/>
        </p:nvSpPr>
        <p:spPr>
          <a:xfrm>
            <a:off x="6583680" y="1463040"/>
            <a:ext cx="5029200" cy="1234440"/>
          </a:xfrm>
          <a:prstGeom prst="roundRect">
            <a:avLst>
              <a:gd name="adj" fmla="val 8889"/>
            </a:avLst>
          </a:prstGeom>
          <a:solidFill>
            <a:schemeClr val="accent1"/>
          </a:solidFill>
          <a:ln w="12700">
            <a:solidFill>
              <a:schemeClr val="accent1"/>
            </a:solidFill>
            <a:prstDash val="solid"/>
          </a:ln>
        </p:spPr>
      </p:sp>
      <p:sp>
        <p:nvSpPr>
          <p:cNvPr id="11" name="Text 9"/>
          <p:cNvSpPr txBox="1"/>
          <p:nvPr/>
        </p:nvSpPr>
        <p:spPr>
          <a:xfrm>
            <a:off x="6858000" y="1600200"/>
            <a:ext cx="4480560" cy="365760"/>
          </a:xfrm>
          <a:prstGeom prst="rect">
            <a:avLst/>
          </a:prstGeom>
          <a:noFill/>
          <a:ln/>
        </p:spPr>
        <p:txBody>
          <a:bodyPr wrap="square" lIns="0" tIns="0" rIns="0" bIns="0" rtlCol="0" anchor="t"/>
          <a:lstStyle/>
          <a:p>
            <a:pPr indent="0" marL="0">
              <a:buNone/>
            </a:pPr>
            <a:r>
              <a:rPr lang="en-US" sz="2000" b="1" dirty="0">
                <a:solidFill>
                  <a:schemeClr val="bg1"/>
                </a:solidFill>
              </a:rPr>
              <a:t>Track 6: Resilience Informatics</a:t>
            </a:r>
            <a:endParaRPr lang="en-US" sz="2000" dirty="0"/>
          </a:p>
        </p:txBody>
      </p:sp>
      <p:sp>
        <p:nvSpPr>
          <p:cNvPr id="12" name="Text 10"/>
          <p:cNvSpPr txBox="1"/>
          <p:nvPr/>
        </p:nvSpPr>
        <p:spPr>
          <a:xfrm>
            <a:off x="6858000" y="2011680"/>
            <a:ext cx="4480560" cy="594360"/>
          </a:xfrm>
          <a:prstGeom prst="rect">
            <a:avLst/>
          </a:prstGeom>
          <a:noFill/>
          <a:ln/>
        </p:spPr>
        <p:txBody>
          <a:bodyPr wrap="square" lIns="0" tIns="0" rIns="0" bIns="0" rtlCol="0" anchor="t"/>
          <a:lstStyle/>
          <a:p>
            <a:pPr indent="0" marL="0">
              <a:buNone/>
            </a:pPr>
            <a:r>
              <a:rPr lang="en-US" sz="1500" dirty="0">
                <a:solidFill>
                  <a:schemeClr val="bg1"/>
                </a:solidFill>
              </a:rPr>
              <a:t>Predictive dashboards, alerts and resilience tools for early warning and planning.</a:t>
            </a:r>
            <a:endParaRPr lang="en-US" sz="1500" dirty="0"/>
          </a:p>
        </p:txBody>
      </p:sp>
      <p:sp>
        <p:nvSpPr>
          <p:cNvPr id="13" name="One Health 1 badge"/>
          <p:cNvSpPr/>
          <p:nvPr/>
        </p:nvSpPr>
        <p:spPr>
          <a:xfrm>
            <a:off x="6583680" y="3017520"/>
            <a:ext cx="731520" cy="731520"/>
          </a:xfrm>
          <a:prstGeom prst="ellipse">
            <a:avLst/>
          </a:prstGeom>
          <a:solidFill>
            <a:schemeClr val="accent1"/>
          </a:solidFill>
          <a:ln w="12700">
            <a:solidFill>
              <a:schemeClr val="accent1"/>
            </a:solidFill>
            <a:prstDash val="solid"/>
          </a:ln>
        </p:spPr>
      </p:sp>
      <p:pic>
        <p:nvPicPr>
          <p:cNvPr id="14" name="One Health 1 icon" descr="One Health 1">    </p:cNvPr>
          <p:cNvPicPr>
            <a:picLocks noChangeAspect="1"/>
          </p:cNvPicPr>
          <p:nvPr/>
        </p:nvPicPr>
        <p:blipFill>
          <a:blip r:embed="rId1"/>
          <a:stretch>
            <a:fillRect/>
          </a:stretch>
        </p:blipFill>
        <p:spPr>
          <a:xfrm>
            <a:off x="6773875" y="3207715"/>
            <a:ext cx="351130" cy="351130"/>
          </a:xfrm>
          <a:prstGeom prst="rect">
            <a:avLst/>
          </a:prstGeom>
        </p:spPr>
      </p:pic>
      <p:sp>
        <p:nvSpPr>
          <p:cNvPr id="15" name="Text 12"/>
          <p:cNvSpPr txBox="1"/>
          <p:nvPr/>
        </p:nvSpPr>
        <p:spPr>
          <a:xfrm>
            <a:off x="7498080" y="3017520"/>
            <a:ext cx="4114800" cy="320040"/>
          </a:xfrm>
          <a:prstGeom prst="rect">
            <a:avLst/>
          </a:prstGeom>
          <a:noFill/>
          <a:ln/>
        </p:spPr>
        <p:txBody>
          <a:bodyPr wrap="square" lIns="0" tIns="0" rIns="0" bIns="0" rtlCol="0" anchor="t"/>
          <a:lstStyle/>
          <a:p>
            <a:pPr indent="0" marL="0">
              <a:buNone/>
            </a:pPr>
            <a:r>
              <a:rPr lang="en-US" sz="1800" b="1" dirty="0">
                <a:solidFill>
                  <a:schemeClr val="tx1"/>
                </a:solidFill>
              </a:rPr>
              <a:t>Waters</a:t>
            </a:r>
            <a:endParaRPr lang="en-US" sz="1800" dirty="0"/>
          </a:p>
        </p:txBody>
      </p:sp>
      <p:sp>
        <p:nvSpPr>
          <p:cNvPr id="16" name="Text 13"/>
          <p:cNvSpPr txBox="1"/>
          <p:nvPr/>
        </p:nvSpPr>
        <p:spPr>
          <a:xfrm>
            <a:off x="7498080" y="3346704"/>
            <a:ext cx="4114800" cy="640080"/>
          </a:xfrm>
          <a:prstGeom prst="rect">
            <a:avLst/>
          </a:prstGeom>
          <a:noFill/>
          <a:ln/>
        </p:spPr>
        <p:txBody>
          <a:bodyPr wrap="square" lIns="0" tIns="0" rIns="0" bIns="0" rtlCol="0" anchor="t"/>
          <a:lstStyle/>
          <a:p>
            <a:pPr indent="0" marL="0">
              <a:buNone/>
            </a:pPr>
            <a:r>
              <a:rPr lang="en-US" sz="1400" dirty="0">
                <a:solidFill>
                  <a:schemeClr val="tx1"/>
                </a:solidFill>
              </a:rPr>
              <a:t>River level, rainfall and rate-of-rise drive the risk score.</a:t>
            </a:r>
            <a:endParaRPr lang="en-US" sz="1400" dirty="0"/>
          </a:p>
        </p:txBody>
      </p:sp>
      <p:sp>
        <p:nvSpPr>
          <p:cNvPr id="17" name="One Health 2 badge"/>
          <p:cNvSpPr/>
          <p:nvPr/>
        </p:nvSpPr>
        <p:spPr>
          <a:xfrm>
            <a:off x="6583680" y="4069080"/>
            <a:ext cx="731520" cy="731520"/>
          </a:xfrm>
          <a:prstGeom prst="ellipse">
            <a:avLst/>
          </a:prstGeom>
          <a:solidFill>
            <a:schemeClr val="accent3"/>
          </a:solidFill>
          <a:ln w="12700">
            <a:solidFill>
              <a:schemeClr val="accent3"/>
            </a:solidFill>
            <a:prstDash val="solid"/>
          </a:ln>
        </p:spPr>
      </p:sp>
      <p:pic>
        <p:nvPicPr>
          <p:cNvPr id="18" name="One Health 2 icon" descr="One Health 2">    </p:cNvPr>
          <p:cNvPicPr>
            <a:picLocks noChangeAspect="1"/>
          </p:cNvPicPr>
          <p:nvPr/>
        </p:nvPicPr>
        <p:blipFill>
          <a:blip r:embed="rId2"/>
          <a:stretch>
            <a:fillRect/>
          </a:stretch>
        </p:blipFill>
        <p:spPr>
          <a:xfrm>
            <a:off x="6773875" y="4259275"/>
            <a:ext cx="351130" cy="351130"/>
          </a:xfrm>
          <a:prstGeom prst="rect">
            <a:avLst/>
          </a:prstGeom>
        </p:spPr>
      </p:pic>
      <p:sp>
        <p:nvSpPr>
          <p:cNvPr id="19" name="Text 15"/>
          <p:cNvSpPr txBox="1"/>
          <p:nvPr/>
        </p:nvSpPr>
        <p:spPr>
          <a:xfrm>
            <a:off x="7498080" y="4069080"/>
            <a:ext cx="4114800" cy="320040"/>
          </a:xfrm>
          <a:prstGeom prst="rect">
            <a:avLst/>
          </a:prstGeom>
          <a:noFill/>
          <a:ln/>
        </p:spPr>
        <p:txBody>
          <a:bodyPr wrap="square" lIns="0" tIns="0" rIns="0" bIns="0" rtlCol="0" anchor="t"/>
          <a:lstStyle/>
          <a:p>
            <a:pPr indent="0" marL="0">
              <a:buNone/>
            </a:pPr>
            <a:r>
              <a:rPr lang="en-US" sz="1800" b="1" dirty="0">
                <a:solidFill>
                  <a:schemeClr val="tx1"/>
                </a:solidFill>
              </a:rPr>
              <a:t>Ecosystems</a:t>
            </a:r>
            <a:endParaRPr lang="en-US" sz="1800" dirty="0"/>
          </a:p>
        </p:txBody>
      </p:sp>
      <p:sp>
        <p:nvSpPr>
          <p:cNvPr id="20" name="Text 16"/>
          <p:cNvSpPr txBox="1"/>
          <p:nvPr/>
        </p:nvSpPr>
        <p:spPr>
          <a:xfrm>
            <a:off x="7498080" y="4398264"/>
            <a:ext cx="4114800" cy="640080"/>
          </a:xfrm>
          <a:prstGeom prst="rect">
            <a:avLst/>
          </a:prstGeom>
          <a:noFill/>
          <a:ln/>
        </p:spPr>
        <p:txBody>
          <a:bodyPr wrap="square" lIns="0" tIns="0" rIns="0" bIns="0" rtlCol="0" anchor="t"/>
          <a:lstStyle/>
          <a:p>
            <a:pPr indent="0" marL="0">
              <a:buNone/>
            </a:pPr>
            <a:r>
              <a:rPr lang="en-US" sz="1400" dirty="0">
                <a:solidFill>
                  <a:schemeClr val="tx1"/>
                </a:solidFill>
              </a:rPr>
              <a:t>Soil moisture, temperature, humidity, pressure and UV give environmental context.</a:t>
            </a:r>
            <a:endParaRPr lang="en-US" sz="1400" dirty="0"/>
          </a:p>
        </p:txBody>
      </p:sp>
      <p:sp>
        <p:nvSpPr>
          <p:cNvPr id="21" name="One Health 3 badge"/>
          <p:cNvSpPr/>
          <p:nvPr/>
        </p:nvSpPr>
        <p:spPr>
          <a:xfrm>
            <a:off x="6583680" y="5120640"/>
            <a:ext cx="731520" cy="731520"/>
          </a:xfrm>
          <a:prstGeom prst="ellipse">
            <a:avLst/>
          </a:prstGeom>
          <a:solidFill>
            <a:schemeClr val="accent2"/>
          </a:solidFill>
          <a:ln w="12700">
            <a:solidFill>
              <a:schemeClr val="accent2"/>
            </a:solidFill>
            <a:prstDash val="solid"/>
          </a:ln>
        </p:spPr>
      </p:sp>
      <p:pic>
        <p:nvPicPr>
          <p:cNvPr id="22" name="One Health 3 icon" descr="One Health 3">    </p:cNvPr>
          <p:cNvPicPr>
            <a:picLocks noChangeAspect="1"/>
          </p:cNvPicPr>
          <p:nvPr/>
        </p:nvPicPr>
        <p:blipFill>
          <a:blip r:embed="rId3"/>
          <a:stretch>
            <a:fillRect/>
          </a:stretch>
        </p:blipFill>
        <p:spPr>
          <a:xfrm>
            <a:off x="6773875" y="5310835"/>
            <a:ext cx="351130" cy="351130"/>
          </a:xfrm>
          <a:prstGeom prst="rect">
            <a:avLst/>
          </a:prstGeom>
        </p:spPr>
      </p:pic>
      <p:sp>
        <p:nvSpPr>
          <p:cNvPr id="23" name="Text 18"/>
          <p:cNvSpPr txBox="1"/>
          <p:nvPr/>
        </p:nvSpPr>
        <p:spPr>
          <a:xfrm>
            <a:off x="7498080" y="5120640"/>
            <a:ext cx="4114800" cy="320040"/>
          </a:xfrm>
          <a:prstGeom prst="rect">
            <a:avLst/>
          </a:prstGeom>
          <a:noFill/>
          <a:ln/>
        </p:spPr>
        <p:txBody>
          <a:bodyPr wrap="square" lIns="0" tIns="0" rIns="0" bIns="0" rtlCol="0" anchor="t"/>
          <a:lstStyle/>
          <a:p>
            <a:pPr indent="0" marL="0">
              <a:buNone/>
            </a:pPr>
            <a:r>
              <a:rPr lang="en-US" sz="1800" b="1" dirty="0">
                <a:solidFill>
                  <a:schemeClr val="tx1"/>
                </a:solidFill>
              </a:rPr>
              <a:t>Communities</a:t>
            </a:r>
            <a:endParaRPr lang="en-US" sz="1800" dirty="0"/>
          </a:p>
        </p:txBody>
      </p:sp>
      <p:sp>
        <p:nvSpPr>
          <p:cNvPr id="24" name="Text 19"/>
          <p:cNvSpPr txBox="1"/>
          <p:nvPr/>
        </p:nvSpPr>
        <p:spPr>
          <a:xfrm>
            <a:off x="7498080" y="5449824"/>
            <a:ext cx="4114800" cy="640080"/>
          </a:xfrm>
          <a:prstGeom prst="rect">
            <a:avLst/>
          </a:prstGeom>
          <a:noFill/>
          <a:ln/>
        </p:spPr>
        <p:txBody>
          <a:bodyPr wrap="square" lIns="0" tIns="0" rIns="0" bIns="0" rtlCol="0" anchor="t"/>
          <a:lstStyle/>
          <a:p>
            <a:pPr indent="0" marL="0">
              <a:buNone/>
            </a:pPr>
            <a:r>
              <a:rPr lang="en-US" sz="1400" dirty="0">
                <a:solidFill>
                  <a:schemeClr val="tx1"/>
                </a:solidFill>
              </a:rPr>
              <a:t>Warnings, a nine-language interface and role-based access put it in people's hands.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One Command Center for every city</a:t>
            </a:r>
            <a:endParaRPr lang="en-US" sz="3600" dirty="0"/>
          </a:p>
        </p:txBody>
      </p:sp>
      <p:sp>
        <p:nvSpPr>
          <p:cNvPr id="3" name="Command Center 1 badge"/>
          <p:cNvSpPr/>
          <p:nvPr/>
        </p:nvSpPr>
        <p:spPr>
          <a:xfrm>
            <a:off x="548640" y="1463040"/>
            <a:ext cx="731520" cy="731520"/>
          </a:xfrm>
          <a:prstGeom prst="ellipse">
            <a:avLst/>
          </a:prstGeom>
          <a:solidFill>
            <a:schemeClr val="accent1"/>
          </a:solidFill>
          <a:ln w="12700">
            <a:solidFill>
              <a:schemeClr val="accent1"/>
            </a:solidFill>
            <a:prstDash val="solid"/>
          </a:ln>
        </p:spPr>
      </p:sp>
      <p:pic>
        <p:nvPicPr>
          <p:cNvPr id="4" name="Command Center 1 icon" descr="Command Center 1">    </p:cNvPr>
          <p:cNvPicPr>
            <a:picLocks noChangeAspect="1"/>
          </p:cNvPicPr>
          <p:nvPr/>
        </p:nvPicPr>
        <p:blipFill>
          <a:blip r:embed="rId1"/>
          <a:stretch>
            <a:fillRect/>
          </a:stretch>
        </p:blipFill>
        <p:spPr>
          <a:xfrm>
            <a:off x="738835" y="1653235"/>
            <a:ext cx="351130" cy="351130"/>
          </a:xfrm>
          <a:prstGeom prst="rect">
            <a:avLst/>
          </a:prstGeom>
        </p:spPr>
      </p:pic>
      <p:sp>
        <p:nvSpPr>
          <p:cNvPr id="5" name="Text 2"/>
          <p:cNvSpPr txBox="1"/>
          <p:nvPr/>
        </p:nvSpPr>
        <p:spPr>
          <a:xfrm>
            <a:off x="1508760" y="1463040"/>
            <a:ext cx="2926080" cy="365760"/>
          </a:xfrm>
          <a:prstGeom prst="rect">
            <a:avLst/>
          </a:prstGeom>
          <a:noFill/>
          <a:ln/>
        </p:spPr>
        <p:txBody>
          <a:bodyPr wrap="square" lIns="0" tIns="0" rIns="0" bIns="0" rtlCol="0" anchor="t"/>
          <a:lstStyle/>
          <a:p>
            <a:pPr indent="0" marL="0">
              <a:buNone/>
            </a:pPr>
            <a:r>
              <a:rPr lang="en-US" sz="1800" b="1" dirty="0">
                <a:solidFill>
                  <a:schemeClr val="tx1"/>
                </a:solidFill>
              </a:rPr>
              <a:t>At-a-glance KPIs</a:t>
            </a:r>
            <a:endParaRPr lang="en-US" sz="1800" dirty="0"/>
          </a:p>
        </p:txBody>
      </p:sp>
      <p:sp>
        <p:nvSpPr>
          <p:cNvPr id="6" name="Text 3"/>
          <p:cNvSpPr txBox="1"/>
          <p:nvPr/>
        </p:nvSpPr>
        <p:spPr>
          <a:xfrm>
            <a:off x="1508760" y="1847088"/>
            <a:ext cx="2926080" cy="868680"/>
          </a:xfrm>
          <a:prstGeom prst="rect">
            <a:avLst/>
          </a:prstGeom>
          <a:noFill/>
          <a:ln/>
        </p:spPr>
        <p:txBody>
          <a:bodyPr wrap="square" lIns="0" tIns="0" rIns="0" bIns="0" rtlCol="0" anchor="t"/>
          <a:lstStyle/>
          <a:p>
            <a:pPr indent="0" marL="0">
              <a:buNone/>
            </a:pPr>
            <a:r>
              <a:rPr lang="en-US" sz="1400" dirty="0">
                <a:solidFill>
                  <a:schemeClr val="tx1"/>
                </a:solidFill>
              </a:rPr>
              <a:t>Resilience score, environmental risk, active warnings and AI monitoring status.</a:t>
            </a:r>
            <a:endParaRPr lang="en-US" sz="1400" dirty="0"/>
          </a:p>
        </p:txBody>
      </p:sp>
      <p:sp>
        <p:nvSpPr>
          <p:cNvPr id="7" name="Command Center 2 badge"/>
          <p:cNvSpPr/>
          <p:nvPr/>
        </p:nvSpPr>
        <p:spPr>
          <a:xfrm>
            <a:off x="548640" y="2834640"/>
            <a:ext cx="731520" cy="731520"/>
          </a:xfrm>
          <a:prstGeom prst="ellipse">
            <a:avLst/>
          </a:prstGeom>
          <a:solidFill>
            <a:schemeClr val="accent2"/>
          </a:solidFill>
          <a:ln w="12700">
            <a:solidFill>
              <a:schemeClr val="accent2"/>
            </a:solidFill>
            <a:prstDash val="solid"/>
          </a:ln>
        </p:spPr>
      </p:sp>
      <p:pic>
        <p:nvPicPr>
          <p:cNvPr id="8" name="Command Center 2 icon" descr="Command Center 2">    </p:cNvPr>
          <p:cNvPicPr>
            <a:picLocks noChangeAspect="1"/>
          </p:cNvPicPr>
          <p:nvPr/>
        </p:nvPicPr>
        <p:blipFill>
          <a:blip r:embed="rId2"/>
          <a:stretch>
            <a:fillRect/>
          </a:stretch>
        </p:blipFill>
        <p:spPr>
          <a:xfrm>
            <a:off x="738835" y="3024835"/>
            <a:ext cx="351130" cy="351130"/>
          </a:xfrm>
          <a:prstGeom prst="rect">
            <a:avLst/>
          </a:prstGeom>
        </p:spPr>
      </p:pic>
      <p:sp>
        <p:nvSpPr>
          <p:cNvPr id="9" name="Text 5"/>
          <p:cNvSpPr txBox="1"/>
          <p:nvPr/>
        </p:nvSpPr>
        <p:spPr>
          <a:xfrm>
            <a:off x="1508760" y="2834640"/>
            <a:ext cx="2926080" cy="365760"/>
          </a:xfrm>
          <a:prstGeom prst="rect">
            <a:avLst/>
          </a:prstGeom>
          <a:noFill/>
          <a:ln/>
        </p:spPr>
        <p:txBody>
          <a:bodyPr wrap="square" lIns="0" tIns="0" rIns="0" bIns="0" rtlCol="0" anchor="t"/>
          <a:lstStyle/>
          <a:p>
            <a:pPr indent="0" marL="0">
              <a:buNone/>
            </a:pPr>
            <a:r>
              <a:rPr lang="en-US" sz="1800" b="1" dirty="0">
                <a:solidFill>
                  <a:schemeClr val="tx1"/>
                </a:solidFill>
              </a:rPr>
              <a:t>Live charts</a:t>
            </a:r>
            <a:endParaRPr lang="en-US" sz="1800" dirty="0"/>
          </a:p>
        </p:txBody>
      </p:sp>
      <p:sp>
        <p:nvSpPr>
          <p:cNvPr id="10" name="Text 6"/>
          <p:cNvSpPr txBox="1"/>
          <p:nvPr/>
        </p:nvSpPr>
        <p:spPr>
          <a:xfrm>
            <a:off x="1508760" y="3218688"/>
            <a:ext cx="2926080" cy="868680"/>
          </a:xfrm>
          <a:prstGeom prst="rect">
            <a:avLst/>
          </a:prstGeom>
          <a:noFill/>
          <a:ln/>
        </p:spPr>
        <p:txBody>
          <a:bodyPr wrap="square" lIns="0" tIns="0" rIns="0" bIns="0" rtlCol="0" anchor="t"/>
          <a:lstStyle/>
          <a:p>
            <a:pPr indent="0" marL="0">
              <a:buNone/>
            </a:pPr>
            <a:r>
              <a:rPr lang="en-US" sz="1400" dirty="0">
                <a:solidFill>
                  <a:schemeClr val="tx1"/>
                </a:solidFill>
              </a:rPr>
              <a:t>Water level, precipitation, temperature, humidity, wind, pressure and UV.</a:t>
            </a:r>
            <a:endParaRPr lang="en-US" sz="1400" dirty="0"/>
          </a:p>
        </p:txBody>
      </p:sp>
      <p:sp>
        <p:nvSpPr>
          <p:cNvPr id="11" name="Command Center 3 badge"/>
          <p:cNvSpPr/>
          <p:nvPr/>
        </p:nvSpPr>
        <p:spPr>
          <a:xfrm>
            <a:off x="548640" y="4206240"/>
            <a:ext cx="731520" cy="731520"/>
          </a:xfrm>
          <a:prstGeom prst="ellipse">
            <a:avLst/>
          </a:prstGeom>
          <a:solidFill>
            <a:schemeClr val="accent3"/>
          </a:solidFill>
          <a:ln w="12700">
            <a:solidFill>
              <a:schemeClr val="accent3"/>
            </a:solidFill>
            <a:prstDash val="solid"/>
          </a:ln>
        </p:spPr>
      </p:sp>
      <p:pic>
        <p:nvPicPr>
          <p:cNvPr id="12" name="Command Center 3 icon" descr="Command Center 3">    </p:cNvPr>
          <p:cNvPicPr>
            <a:picLocks noChangeAspect="1"/>
          </p:cNvPicPr>
          <p:nvPr/>
        </p:nvPicPr>
        <p:blipFill>
          <a:blip r:embed="rId3"/>
          <a:stretch>
            <a:fillRect/>
          </a:stretch>
        </p:blipFill>
        <p:spPr>
          <a:xfrm>
            <a:off x="738835" y="4396435"/>
            <a:ext cx="351130" cy="351130"/>
          </a:xfrm>
          <a:prstGeom prst="rect">
            <a:avLst/>
          </a:prstGeom>
        </p:spPr>
      </p:pic>
      <p:sp>
        <p:nvSpPr>
          <p:cNvPr id="13" name="Text 8"/>
          <p:cNvSpPr txBox="1"/>
          <p:nvPr/>
        </p:nvSpPr>
        <p:spPr>
          <a:xfrm>
            <a:off x="1508760" y="4206240"/>
            <a:ext cx="2926080" cy="365760"/>
          </a:xfrm>
          <a:prstGeom prst="rect">
            <a:avLst/>
          </a:prstGeom>
          <a:noFill/>
          <a:ln/>
        </p:spPr>
        <p:txBody>
          <a:bodyPr wrap="square" lIns="0" tIns="0" rIns="0" bIns="0" rtlCol="0" anchor="t"/>
          <a:lstStyle/>
          <a:p>
            <a:pPr indent="0" marL="0">
              <a:buNone/>
            </a:pPr>
            <a:r>
              <a:rPr lang="en-US" sz="1800" b="1" dirty="0">
                <a:solidFill>
                  <a:schemeClr val="tx1"/>
                </a:solidFill>
              </a:rPr>
              <a:t>Your time range</a:t>
            </a:r>
            <a:endParaRPr lang="en-US" sz="1800" dirty="0"/>
          </a:p>
        </p:txBody>
      </p:sp>
      <p:sp>
        <p:nvSpPr>
          <p:cNvPr id="14" name="Text 9"/>
          <p:cNvSpPr txBox="1"/>
          <p:nvPr/>
        </p:nvSpPr>
        <p:spPr>
          <a:xfrm>
            <a:off x="1508760" y="4590288"/>
            <a:ext cx="2926080" cy="868680"/>
          </a:xfrm>
          <a:prstGeom prst="rect">
            <a:avLst/>
          </a:prstGeom>
          <a:noFill/>
          <a:ln/>
        </p:spPr>
        <p:txBody>
          <a:bodyPr wrap="square" lIns="0" tIns="0" rIns="0" bIns="0" rtlCol="0" anchor="t"/>
          <a:lstStyle/>
          <a:p>
            <a:pPr indent="0" marL="0">
              <a:buNone/>
            </a:pPr>
            <a:r>
              <a:rPr lang="en-US" sz="1400" dirty="0">
                <a:solidFill>
                  <a:schemeClr val="tx1"/>
                </a:solidFill>
              </a:rPr>
              <a:t>Switch between 48, 72, 96 and 120 hours; expand any widget full screen.</a:t>
            </a:r>
            <a:endParaRPr lang="en-US" sz="1400" dirty="0"/>
          </a:p>
        </p:txBody>
      </p:sp>
      <p:sp>
        <p:nvSpPr>
          <p:cNvPr id="15" name="Command Center screenshot frame"/>
          <p:cNvSpPr/>
          <p:nvPr/>
        </p:nvSpPr>
        <p:spPr>
          <a:xfrm>
            <a:off x="4626864" y="1380744"/>
            <a:ext cx="7022592" cy="3982212"/>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16" name="Command Center screenshot" descr="Command Center screenshot">    </p:cNvPr>
          <p:cNvPicPr>
            <a:picLocks noChangeAspect="1"/>
          </p:cNvPicPr>
          <p:nvPr/>
        </p:nvPicPr>
        <p:blipFill>
          <a:blip r:embed="rId4"/>
          <a:stretch>
            <a:fillRect/>
          </a:stretch>
        </p:blipFill>
        <p:spPr>
          <a:xfrm>
            <a:off x="4663440" y="1417320"/>
            <a:ext cx="6949440" cy="3909060"/>
          </a:xfrm>
          <a:prstGeom prst="rect">
            <a:avLst/>
          </a:prstGeom>
        </p:spPr>
      </p:pic>
      <p:sp>
        <p:nvSpPr>
          <p:cNvPr id="17" name="Text 11"/>
          <p:cNvSpPr txBox="1"/>
          <p:nvPr/>
        </p:nvSpPr>
        <p:spPr>
          <a:xfrm>
            <a:off x="4663440" y="5486400"/>
            <a:ext cx="6949440" cy="274320"/>
          </a:xfrm>
          <a:prstGeom prst="rect">
            <a:avLst/>
          </a:prstGeom>
          <a:noFill/>
          <a:ln/>
        </p:spPr>
        <p:txBody>
          <a:bodyPr wrap="square" lIns="0" tIns="0" rIns="0" bIns="0" rtlCol="0" anchor="t"/>
          <a:lstStyle/>
          <a:p>
            <a:pPr indent="0" marL="0">
              <a:buNone/>
            </a:pPr>
            <a:r>
              <a:rPr lang="en-US" sz="1100" dirty="0">
                <a:solidFill>
                  <a:srgbClr val="5B6B7C"/>
                </a:solidFill>
              </a:rPr>
              <a:t>Screenshot: Command Center for Toulouse, built-in demo data</a:t>
            </a:r>
            <a:endParaRPr lang="en-US" sz="11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Early warnings with a clear lifecycle</a:t>
            </a:r>
            <a:endParaRPr lang="en-US" sz="3600" dirty="0"/>
          </a:p>
        </p:txBody>
      </p:sp>
      <p:sp>
        <p:nvSpPr>
          <p:cNvPr id="3" name="Early Warnings screenshot frame"/>
          <p:cNvSpPr/>
          <p:nvPr/>
        </p:nvSpPr>
        <p:spPr>
          <a:xfrm>
            <a:off x="512064" y="1380744"/>
            <a:ext cx="7022592" cy="3164097"/>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4" name="Early Warnings screenshot" descr="Early Warnings screenshot">    </p:cNvPr>
          <p:cNvPicPr>
            <a:picLocks noChangeAspect="1"/>
          </p:cNvPicPr>
          <p:nvPr/>
        </p:nvPicPr>
        <p:blipFill>
          <a:blip r:embed="rId1"/>
          <a:stretch>
            <a:fillRect/>
          </a:stretch>
        </p:blipFill>
        <p:spPr>
          <a:xfrm>
            <a:off x="548640" y="1417320"/>
            <a:ext cx="6949440" cy="3090945"/>
          </a:xfrm>
          <a:prstGeom prst="rect">
            <a:avLst/>
          </a:prstGeom>
        </p:spPr>
      </p:pic>
      <p:sp>
        <p:nvSpPr>
          <p:cNvPr id="5" name="Fact 1"/>
          <p:cNvSpPr/>
          <p:nvPr/>
        </p:nvSpPr>
        <p:spPr>
          <a:xfrm>
            <a:off x="548640" y="4754880"/>
            <a:ext cx="3337560" cy="1097280"/>
          </a:xfrm>
          <a:prstGeom prst="roundRect">
            <a:avLst>
              <a:gd name="adj" fmla="val 10000"/>
            </a:avLst>
          </a:prstGeom>
          <a:solidFill>
            <a:schemeClr val="bg2"/>
          </a:solidFill>
          <a:ln w="12700">
            <a:solidFill>
              <a:schemeClr val="bg2"/>
            </a:solidFill>
            <a:prstDash val="solid"/>
          </a:ln>
        </p:spPr>
      </p:sp>
      <p:sp>
        <p:nvSpPr>
          <p:cNvPr id="6" name="Text 3"/>
          <p:cNvSpPr txBox="1"/>
          <p:nvPr/>
        </p:nvSpPr>
        <p:spPr>
          <a:xfrm>
            <a:off x="777240" y="4864608"/>
            <a:ext cx="2926080" cy="320040"/>
          </a:xfrm>
          <a:prstGeom prst="rect">
            <a:avLst/>
          </a:prstGeom>
          <a:noFill/>
          <a:ln/>
        </p:spPr>
        <p:txBody>
          <a:bodyPr wrap="square" lIns="0" tIns="0" rIns="0" bIns="0" rtlCol="0" anchor="t"/>
          <a:lstStyle/>
          <a:p>
            <a:pPr indent="0" marL="0">
              <a:buNone/>
            </a:pPr>
            <a:r>
              <a:rPr lang="en-US" sz="1600" b="1" dirty="0">
                <a:solidFill>
                  <a:schemeClr val="tx1"/>
                </a:solidFill>
              </a:rPr>
              <a:t>Severity from score bands</a:t>
            </a:r>
            <a:endParaRPr lang="en-US" sz="1600" dirty="0"/>
          </a:p>
        </p:txBody>
      </p:sp>
      <p:sp>
        <p:nvSpPr>
          <p:cNvPr id="7" name="Text 4"/>
          <p:cNvSpPr txBox="1"/>
          <p:nvPr/>
        </p:nvSpPr>
        <p:spPr>
          <a:xfrm>
            <a:off x="777240" y="5193792"/>
            <a:ext cx="2926080" cy="594360"/>
          </a:xfrm>
          <a:prstGeom prst="rect">
            <a:avLst/>
          </a:prstGeom>
          <a:noFill/>
          <a:ln/>
        </p:spPr>
        <p:txBody>
          <a:bodyPr wrap="square" lIns="0" tIns="0" rIns="0" bIns="0" rtlCol="0" anchor="t"/>
          <a:lstStyle/>
          <a:p>
            <a:pPr indent="0" marL="0">
              <a:buNone/>
            </a:pPr>
            <a:r>
              <a:rPr lang="en-US" sz="1400" dirty="0">
                <a:solidFill>
                  <a:schemeClr val="tx1"/>
                </a:solidFill>
              </a:rPr>
              <a:t>Low, Moderate, High or Critical, from configurable thresholds.</a:t>
            </a:r>
            <a:endParaRPr lang="en-US" sz="1400" dirty="0"/>
          </a:p>
        </p:txBody>
      </p:sp>
      <p:sp>
        <p:nvSpPr>
          <p:cNvPr id="8" name="Fact 2"/>
          <p:cNvSpPr/>
          <p:nvPr/>
        </p:nvSpPr>
        <p:spPr>
          <a:xfrm>
            <a:off x="4160520" y="4754880"/>
            <a:ext cx="3337560" cy="1097280"/>
          </a:xfrm>
          <a:prstGeom prst="roundRect">
            <a:avLst>
              <a:gd name="adj" fmla="val 10000"/>
            </a:avLst>
          </a:prstGeom>
          <a:solidFill>
            <a:schemeClr val="bg2"/>
          </a:solidFill>
          <a:ln w="12700">
            <a:solidFill>
              <a:schemeClr val="bg2"/>
            </a:solidFill>
            <a:prstDash val="solid"/>
          </a:ln>
        </p:spPr>
      </p:sp>
      <p:sp>
        <p:nvSpPr>
          <p:cNvPr id="9" name="Text 6"/>
          <p:cNvSpPr txBox="1"/>
          <p:nvPr/>
        </p:nvSpPr>
        <p:spPr>
          <a:xfrm>
            <a:off x="4389120" y="4864608"/>
            <a:ext cx="2926080" cy="320040"/>
          </a:xfrm>
          <a:prstGeom prst="rect">
            <a:avLst/>
          </a:prstGeom>
          <a:noFill/>
          <a:ln/>
        </p:spPr>
        <p:txBody>
          <a:bodyPr wrap="square" lIns="0" tIns="0" rIns="0" bIns="0" rtlCol="0" anchor="t"/>
          <a:lstStyle/>
          <a:p>
            <a:pPr indent="0" marL="0">
              <a:buNone/>
            </a:pPr>
            <a:r>
              <a:rPr lang="en-US" sz="1600" b="1" dirty="0">
                <a:solidFill>
                  <a:schemeClr val="tx1"/>
                </a:solidFill>
              </a:rPr>
              <a:t>Full audit trail</a:t>
            </a:r>
            <a:endParaRPr lang="en-US" sz="1600" dirty="0"/>
          </a:p>
        </p:txBody>
      </p:sp>
      <p:sp>
        <p:nvSpPr>
          <p:cNvPr id="10" name="Text 7"/>
          <p:cNvSpPr txBox="1"/>
          <p:nvPr/>
        </p:nvSpPr>
        <p:spPr>
          <a:xfrm>
            <a:off x="4389120" y="5193792"/>
            <a:ext cx="2926080" cy="594360"/>
          </a:xfrm>
          <a:prstGeom prst="rect">
            <a:avLst/>
          </a:prstGeom>
          <a:noFill/>
          <a:ln/>
        </p:spPr>
        <p:txBody>
          <a:bodyPr wrap="square" lIns="0" tIns="0" rIns="0" bIns="0" rtlCol="0" anchor="t"/>
          <a:lstStyle/>
          <a:p>
            <a:pPr indent="0" marL="0">
              <a:buNone/>
            </a:pPr>
            <a:r>
              <a:rPr lang="en-US" sz="1400" dirty="0">
                <a:solidFill>
                  <a:schemeClr val="tx1"/>
                </a:solidFill>
              </a:rPr>
              <a:t>Who acknowledged or resolved a warning, and when.</a:t>
            </a:r>
            <a:endParaRPr lang="en-US" sz="1400" dirty="0"/>
          </a:p>
        </p:txBody>
      </p:sp>
      <p:sp>
        <p:nvSpPr>
          <p:cNvPr id="11" name="Lifecycle 1"/>
          <p:cNvSpPr/>
          <p:nvPr/>
        </p:nvSpPr>
        <p:spPr>
          <a:xfrm>
            <a:off x="7863840" y="1417320"/>
            <a:ext cx="3749040" cy="1325880"/>
          </a:xfrm>
          <a:prstGeom prst="roundRect">
            <a:avLst>
              <a:gd name="adj" fmla="val 8276"/>
            </a:avLst>
          </a:prstGeom>
          <a:solidFill>
            <a:schemeClr val="bg2"/>
          </a:solidFill>
          <a:ln w="12700">
            <a:solidFill>
              <a:schemeClr val="bg2"/>
            </a:solidFill>
            <a:prstDash val="solid"/>
          </a:ln>
        </p:spPr>
      </p:sp>
      <p:sp>
        <p:nvSpPr>
          <p:cNvPr id="12" name="Lifecycle dot 1"/>
          <p:cNvSpPr/>
          <p:nvPr/>
        </p:nvSpPr>
        <p:spPr>
          <a:xfrm>
            <a:off x="8092440" y="1600200"/>
            <a:ext cx="365760" cy="365760"/>
          </a:xfrm>
          <a:prstGeom prst="ellipse">
            <a:avLst/>
          </a:prstGeom>
          <a:solidFill>
            <a:schemeClr val="accent6"/>
          </a:solidFill>
          <a:ln w="12700">
            <a:solidFill>
              <a:schemeClr val="accent6"/>
            </a:solidFill>
            <a:prstDash val="solid"/>
          </a:ln>
        </p:spPr>
      </p:sp>
      <p:sp>
        <p:nvSpPr>
          <p:cNvPr id="13" name="Text 10"/>
          <p:cNvSpPr txBox="1"/>
          <p:nvPr/>
        </p:nvSpPr>
        <p:spPr>
          <a:xfrm>
            <a:off x="8641080" y="1581912"/>
            <a:ext cx="2834640" cy="384048"/>
          </a:xfrm>
          <a:prstGeom prst="rect">
            <a:avLst/>
          </a:prstGeom>
          <a:noFill/>
          <a:ln/>
        </p:spPr>
        <p:txBody>
          <a:bodyPr wrap="square" lIns="0" tIns="0" rIns="0" bIns="0" rtlCol="0" anchor="ctr"/>
          <a:lstStyle/>
          <a:p>
            <a:pPr indent="0" marL="0">
              <a:buNone/>
            </a:pPr>
            <a:r>
              <a:rPr lang="en-US" sz="2000" b="1" dirty="0">
                <a:solidFill>
                  <a:schemeClr val="tx1"/>
                </a:solidFill>
              </a:rPr>
              <a:t>Active</a:t>
            </a:r>
            <a:endParaRPr lang="en-US" sz="2000" dirty="0"/>
          </a:p>
        </p:txBody>
      </p:sp>
      <p:sp>
        <p:nvSpPr>
          <p:cNvPr id="14" name="Text 11"/>
          <p:cNvSpPr txBox="1"/>
          <p:nvPr/>
        </p:nvSpPr>
        <p:spPr>
          <a:xfrm>
            <a:off x="8092440" y="2103120"/>
            <a:ext cx="3291840" cy="548640"/>
          </a:xfrm>
          <a:prstGeom prst="rect">
            <a:avLst/>
          </a:prstGeom>
          <a:noFill/>
          <a:ln/>
        </p:spPr>
        <p:txBody>
          <a:bodyPr wrap="square" lIns="0" tIns="0" rIns="0" bIns="0" rtlCol="0" anchor="t"/>
          <a:lstStyle/>
          <a:p>
            <a:pPr indent="0" marL="0">
              <a:buNone/>
            </a:pPr>
            <a:r>
              <a:rPr lang="en-US" sz="1400" dirty="0">
                <a:solidFill>
                  <a:schemeClr val="tx1"/>
                </a:solidFill>
              </a:rPr>
              <a:t>A risk threshold was crossed. Operators are notified.</a:t>
            </a:r>
            <a:endParaRPr lang="en-US" sz="1400" dirty="0"/>
          </a:p>
        </p:txBody>
      </p:sp>
      <p:sp>
        <p:nvSpPr>
          <p:cNvPr id="15" name="Lifecycle arrow 1"/>
          <p:cNvSpPr/>
          <p:nvPr/>
        </p:nvSpPr>
        <p:spPr>
          <a:xfrm>
            <a:off x="9601200" y="2752344"/>
            <a:ext cx="274320" cy="210312"/>
          </a:xfrm>
          <a:prstGeom prst="downArrow">
            <a:avLst/>
          </a:prstGeom>
          <a:solidFill>
            <a:schemeClr val="tx2"/>
          </a:solidFill>
          <a:ln w="12700">
            <a:solidFill>
              <a:schemeClr val="tx2"/>
            </a:solidFill>
            <a:prstDash val="solid"/>
          </a:ln>
        </p:spPr>
      </p:sp>
      <p:sp>
        <p:nvSpPr>
          <p:cNvPr id="16" name="Lifecycle 2"/>
          <p:cNvSpPr/>
          <p:nvPr/>
        </p:nvSpPr>
        <p:spPr>
          <a:xfrm>
            <a:off x="7863840" y="2971800"/>
            <a:ext cx="3749040" cy="1325880"/>
          </a:xfrm>
          <a:prstGeom prst="roundRect">
            <a:avLst>
              <a:gd name="adj" fmla="val 8276"/>
            </a:avLst>
          </a:prstGeom>
          <a:solidFill>
            <a:schemeClr val="bg2"/>
          </a:solidFill>
          <a:ln w="12700">
            <a:solidFill>
              <a:schemeClr val="bg2"/>
            </a:solidFill>
            <a:prstDash val="solid"/>
          </a:ln>
        </p:spPr>
      </p:sp>
      <p:sp>
        <p:nvSpPr>
          <p:cNvPr id="17" name="Lifecycle dot 2"/>
          <p:cNvSpPr/>
          <p:nvPr/>
        </p:nvSpPr>
        <p:spPr>
          <a:xfrm>
            <a:off x="8092440" y="3154680"/>
            <a:ext cx="365760" cy="365760"/>
          </a:xfrm>
          <a:prstGeom prst="ellipse">
            <a:avLst/>
          </a:prstGeom>
          <a:solidFill>
            <a:schemeClr val="accent4"/>
          </a:solidFill>
          <a:ln w="12700">
            <a:solidFill>
              <a:schemeClr val="accent4"/>
            </a:solidFill>
            <a:prstDash val="solid"/>
          </a:ln>
        </p:spPr>
      </p:sp>
      <p:sp>
        <p:nvSpPr>
          <p:cNvPr id="18" name="Text 15"/>
          <p:cNvSpPr txBox="1"/>
          <p:nvPr/>
        </p:nvSpPr>
        <p:spPr>
          <a:xfrm>
            <a:off x="8641080" y="3136392"/>
            <a:ext cx="2834640" cy="384048"/>
          </a:xfrm>
          <a:prstGeom prst="rect">
            <a:avLst/>
          </a:prstGeom>
          <a:noFill/>
          <a:ln/>
        </p:spPr>
        <p:txBody>
          <a:bodyPr wrap="square" lIns="0" tIns="0" rIns="0" bIns="0" rtlCol="0" anchor="ctr"/>
          <a:lstStyle/>
          <a:p>
            <a:pPr indent="0" marL="0">
              <a:buNone/>
            </a:pPr>
            <a:r>
              <a:rPr lang="en-US" sz="2000" b="1" dirty="0">
                <a:solidFill>
                  <a:schemeClr val="tx1"/>
                </a:solidFill>
              </a:rPr>
              <a:t>Acknowledged</a:t>
            </a:r>
            <a:endParaRPr lang="en-US" sz="2000" dirty="0"/>
          </a:p>
        </p:txBody>
      </p:sp>
      <p:sp>
        <p:nvSpPr>
          <p:cNvPr id="19" name="Text 16"/>
          <p:cNvSpPr txBox="1"/>
          <p:nvPr/>
        </p:nvSpPr>
        <p:spPr>
          <a:xfrm>
            <a:off x="8092440" y="3657600"/>
            <a:ext cx="3291840" cy="548640"/>
          </a:xfrm>
          <a:prstGeom prst="rect">
            <a:avLst/>
          </a:prstGeom>
          <a:noFill/>
          <a:ln/>
        </p:spPr>
        <p:txBody>
          <a:bodyPr wrap="square" lIns="0" tIns="0" rIns="0" bIns="0" rtlCol="0" anchor="t"/>
          <a:lstStyle/>
          <a:p>
            <a:pPr indent="0" marL="0">
              <a:buNone/>
            </a:pPr>
            <a:r>
              <a:rPr lang="en-US" sz="1400" dirty="0">
                <a:solidFill>
                  <a:schemeClr val="tx1"/>
                </a:solidFill>
              </a:rPr>
              <a:t>An operator has taken ownership.</a:t>
            </a:r>
            <a:endParaRPr lang="en-US" sz="1400" dirty="0"/>
          </a:p>
        </p:txBody>
      </p:sp>
      <p:sp>
        <p:nvSpPr>
          <p:cNvPr id="20" name="Lifecycle arrow 2"/>
          <p:cNvSpPr/>
          <p:nvPr/>
        </p:nvSpPr>
        <p:spPr>
          <a:xfrm>
            <a:off x="9601200" y="4306824"/>
            <a:ext cx="274320" cy="210312"/>
          </a:xfrm>
          <a:prstGeom prst="downArrow">
            <a:avLst/>
          </a:prstGeom>
          <a:solidFill>
            <a:schemeClr val="tx2"/>
          </a:solidFill>
          <a:ln w="12700">
            <a:solidFill>
              <a:schemeClr val="tx2"/>
            </a:solidFill>
            <a:prstDash val="solid"/>
          </a:ln>
        </p:spPr>
      </p:sp>
      <p:sp>
        <p:nvSpPr>
          <p:cNvPr id="21" name="Lifecycle 3"/>
          <p:cNvSpPr/>
          <p:nvPr/>
        </p:nvSpPr>
        <p:spPr>
          <a:xfrm>
            <a:off x="7863840" y="4526280"/>
            <a:ext cx="3749040" cy="1325880"/>
          </a:xfrm>
          <a:prstGeom prst="roundRect">
            <a:avLst>
              <a:gd name="adj" fmla="val 8276"/>
            </a:avLst>
          </a:prstGeom>
          <a:solidFill>
            <a:schemeClr val="bg2"/>
          </a:solidFill>
          <a:ln w="12700">
            <a:solidFill>
              <a:schemeClr val="bg2"/>
            </a:solidFill>
            <a:prstDash val="solid"/>
          </a:ln>
        </p:spPr>
      </p:sp>
      <p:sp>
        <p:nvSpPr>
          <p:cNvPr id="22" name="Lifecycle dot 3"/>
          <p:cNvSpPr/>
          <p:nvPr/>
        </p:nvSpPr>
        <p:spPr>
          <a:xfrm>
            <a:off x="8092440" y="4709160"/>
            <a:ext cx="365760" cy="365760"/>
          </a:xfrm>
          <a:prstGeom prst="ellipse">
            <a:avLst/>
          </a:prstGeom>
          <a:solidFill>
            <a:schemeClr val="accent3"/>
          </a:solidFill>
          <a:ln w="12700">
            <a:solidFill>
              <a:schemeClr val="accent3"/>
            </a:solidFill>
            <a:prstDash val="solid"/>
          </a:ln>
        </p:spPr>
      </p:sp>
      <p:sp>
        <p:nvSpPr>
          <p:cNvPr id="23" name="Text 20"/>
          <p:cNvSpPr txBox="1"/>
          <p:nvPr/>
        </p:nvSpPr>
        <p:spPr>
          <a:xfrm>
            <a:off x="8641080" y="4690872"/>
            <a:ext cx="2834640" cy="384048"/>
          </a:xfrm>
          <a:prstGeom prst="rect">
            <a:avLst/>
          </a:prstGeom>
          <a:noFill/>
          <a:ln/>
        </p:spPr>
        <p:txBody>
          <a:bodyPr wrap="square" lIns="0" tIns="0" rIns="0" bIns="0" rtlCol="0" anchor="ctr"/>
          <a:lstStyle/>
          <a:p>
            <a:pPr indent="0" marL="0">
              <a:buNone/>
            </a:pPr>
            <a:r>
              <a:rPr lang="en-US" sz="2000" b="1" dirty="0">
                <a:solidFill>
                  <a:schemeClr val="tx1"/>
                </a:solidFill>
              </a:rPr>
              <a:t>Resolved</a:t>
            </a:r>
            <a:endParaRPr lang="en-US" sz="2000" dirty="0"/>
          </a:p>
        </p:txBody>
      </p:sp>
      <p:sp>
        <p:nvSpPr>
          <p:cNvPr id="24" name="Text 21"/>
          <p:cNvSpPr txBox="1"/>
          <p:nvPr/>
        </p:nvSpPr>
        <p:spPr>
          <a:xfrm>
            <a:off x="8092440" y="5212080"/>
            <a:ext cx="3291840" cy="548640"/>
          </a:xfrm>
          <a:prstGeom prst="rect">
            <a:avLst/>
          </a:prstGeom>
          <a:noFill/>
          <a:ln/>
        </p:spPr>
        <p:txBody>
          <a:bodyPr wrap="square" lIns="0" tIns="0" rIns="0" bIns="0" rtlCol="0" anchor="t"/>
          <a:lstStyle/>
          <a:p>
            <a:pPr indent="0" marL="0">
              <a:buNone/>
            </a:pPr>
            <a:r>
              <a:rPr lang="en-US" sz="1400" dirty="0">
                <a:solidFill>
                  <a:schemeClr val="tx1"/>
                </a:solidFill>
              </a:rPr>
              <a:t>Conditions normalized; the history is kept.</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Scenario Simulator: what if it rains harder?</a:t>
            </a:r>
            <a:endParaRPr lang="en-US" sz="3600" dirty="0"/>
          </a:p>
        </p:txBody>
      </p:sp>
      <p:sp>
        <p:nvSpPr>
          <p:cNvPr id="3" name="Scenario Simulator screenshot frame"/>
          <p:cNvSpPr/>
          <p:nvPr/>
        </p:nvSpPr>
        <p:spPr>
          <a:xfrm>
            <a:off x="512064" y="1380744"/>
            <a:ext cx="7571232" cy="1976689"/>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4" name="Scenario Simulator screenshot" descr="Scenario Simulator screenshot">    </p:cNvPr>
          <p:cNvPicPr>
            <a:picLocks noChangeAspect="1"/>
          </p:cNvPicPr>
          <p:nvPr/>
        </p:nvPicPr>
        <p:blipFill>
          <a:blip r:embed="rId1"/>
          <a:stretch>
            <a:fillRect/>
          </a:stretch>
        </p:blipFill>
        <p:spPr>
          <a:xfrm>
            <a:off x="548640" y="1417320"/>
            <a:ext cx="7498080" cy="1903537"/>
          </a:xfrm>
          <a:prstGeom prst="rect">
            <a:avLst/>
          </a:prstGeom>
        </p:spPr>
      </p:pic>
      <p:sp>
        <p:nvSpPr>
          <p:cNvPr id="5" name="Projected warning screenshot frame"/>
          <p:cNvSpPr/>
          <p:nvPr/>
        </p:nvSpPr>
        <p:spPr>
          <a:xfrm>
            <a:off x="512064" y="3666744"/>
            <a:ext cx="4096512" cy="1565384"/>
          </a:xfrm>
          <a:prstGeom prst="rect">
            <a:avLst/>
          </a:prstGeom>
          <a:solidFill>
            <a:schemeClr val="bg1"/>
          </a:solidFill>
          <a:ln w="12700">
            <a:solidFill>
              <a:srgbClr val="CFDBE6"/>
            </a:solidFill>
            <a:prstDash val="solid"/>
          </a:ln>
          <a:effectLst>
            <a:outerShdw sx="100000" sy="100000" kx="0" ky="0" algn="bl" rotWithShape="0" blurRad="101600" dist="25400" dir="5400000">
              <a:srgbClr val="0B2545">
                <a:alpha val="14000"/>
              </a:srgbClr>
            </a:outerShdw>
          </a:effectLst>
        </p:spPr>
      </p:sp>
      <p:pic>
        <p:nvPicPr>
          <p:cNvPr id="6" name="Projected warning screenshot" descr="Projected warning screenshot">    </p:cNvPr>
          <p:cNvPicPr>
            <a:picLocks noChangeAspect="1"/>
          </p:cNvPicPr>
          <p:nvPr/>
        </p:nvPicPr>
        <p:blipFill>
          <a:blip r:embed="rId2"/>
          <a:stretch>
            <a:fillRect/>
          </a:stretch>
        </p:blipFill>
        <p:spPr>
          <a:xfrm>
            <a:off x="548640" y="3703320"/>
            <a:ext cx="4023360" cy="1492232"/>
          </a:xfrm>
          <a:prstGeom prst="rect">
            <a:avLst/>
          </a:prstGeom>
        </p:spPr>
      </p:pic>
      <p:sp>
        <p:nvSpPr>
          <p:cNvPr id="7" name="Text 3"/>
          <p:cNvSpPr txBox="1"/>
          <p:nvPr/>
        </p:nvSpPr>
        <p:spPr>
          <a:xfrm>
            <a:off x="4892040" y="3749040"/>
            <a:ext cx="3154680" cy="1280160"/>
          </a:xfrm>
          <a:prstGeom prst="rect">
            <a:avLst/>
          </a:prstGeom>
          <a:noFill/>
          <a:ln/>
        </p:spPr>
        <p:txBody>
          <a:bodyPr wrap="square" lIns="0" tIns="0" rIns="0" bIns="0" rtlCol="0" anchor="t"/>
          <a:lstStyle/>
          <a:p>
            <a:pPr indent="0" marL="0">
              <a:buNone/>
            </a:pPr>
            <a:r>
              <a:rPr lang="en-US" sz="1500" dirty="0">
                <a:solidFill>
                  <a:schemeClr val="tx1"/>
                </a:solidFill>
              </a:rPr>
              <a:t>Presets or sliders re-run the real risk engine on current data.</a:t>
            </a:r>
            <a:endParaRPr lang="en-US" sz="1500" dirty="0"/>
          </a:p>
        </p:txBody>
      </p:sp>
      <p:sp>
        <p:nvSpPr>
          <p:cNvPr id="8" name="Preset 1"/>
          <p:cNvSpPr/>
          <p:nvPr/>
        </p:nvSpPr>
        <p:spPr>
          <a:xfrm>
            <a:off x="548640" y="5440680"/>
            <a:ext cx="2377440" cy="548640"/>
          </a:xfrm>
          <a:prstGeom prst="roundRect">
            <a:avLst>
              <a:gd name="adj" fmla="val 50000"/>
            </a:avLst>
          </a:prstGeom>
          <a:solidFill>
            <a:schemeClr val="bg2"/>
          </a:solidFill>
          <a:ln w="12700">
            <a:solidFill>
              <a:srgbClr val="CFDBE6"/>
            </a:solidFill>
            <a:prstDash val="solid"/>
          </a:ln>
        </p:spPr>
      </p:sp>
      <p:sp>
        <p:nvSpPr>
          <p:cNvPr id="9" name="Text 5"/>
          <p:cNvSpPr txBox="1"/>
          <p:nvPr/>
        </p:nvSpPr>
        <p:spPr>
          <a:xfrm>
            <a:off x="548640" y="5440680"/>
            <a:ext cx="2377440" cy="548640"/>
          </a:xfrm>
          <a:prstGeom prst="rect">
            <a:avLst/>
          </a:prstGeom>
          <a:noFill/>
          <a:ln/>
        </p:spPr>
        <p:txBody>
          <a:bodyPr wrap="square" lIns="0" tIns="0" rIns="0" bIns="0" rtlCol="0" anchor="ctr"/>
          <a:lstStyle/>
          <a:p>
            <a:pPr algn="ctr" indent="0" marL="0">
              <a:buNone/>
            </a:pPr>
            <a:r>
              <a:rPr lang="en-US" sz="1500" b="1" dirty="0">
                <a:solidFill>
                  <a:schemeClr val="tx2"/>
                </a:solidFill>
              </a:rPr>
              <a:t>Light rain</a:t>
            </a:r>
            <a:endParaRPr lang="en-US" sz="1500" dirty="0"/>
          </a:p>
        </p:txBody>
      </p:sp>
      <p:sp>
        <p:nvSpPr>
          <p:cNvPr id="10" name="Preset 2"/>
          <p:cNvSpPr/>
          <p:nvPr/>
        </p:nvSpPr>
        <p:spPr>
          <a:xfrm>
            <a:off x="3108960" y="5440680"/>
            <a:ext cx="2377440" cy="548640"/>
          </a:xfrm>
          <a:prstGeom prst="roundRect">
            <a:avLst>
              <a:gd name="adj" fmla="val 50000"/>
            </a:avLst>
          </a:prstGeom>
          <a:solidFill>
            <a:schemeClr val="bg2"/>
          </a:solidFill>
          <a:ln w="12700">
            <a:solidFill>
              <a:srgbClr val="CFDBE6"/>
            </a:solidFill>
            <a:prstDash val="solid"/>
          </a:ln>
        </p:spPr>
      </p:sp>
      <p:sp>
        <p:nvSpPr>
          <p:cNvPr id="11" name="Text 7"/>
          <p:cNvSpPr txBox="1"/>
          <p:nvPr/>
        </p:nvSpPr>
        <p:spPr>
          <a:xfrm>
            <a:off x="3108960" y="5440680"/>
            <a:ext cx="2377440" cy="548640"/>
          </a:xfrm>
          <a:prstGeom prst="rect">
            <a:avLst/>
          </a:prstGeom>
          <a:noFill/>
          <a:ln/>
        </p:spPr>
        <p:txBody>
          <a:bodyPr wrap="square" lIns="0" tIns="0" rIns="0" bIns="0" rtlCol="0" anchor="ctr"/>
          <a:lstStyle/>
          <a:p>
            <a:pPr algn="ctr" indent="0" marL="0">
              <a:buNone/>
            </a:pPr>
            <a:r>
              <a:rPr lang="en-US" sz="1500" b="1" dirty="0">
                <a:solidFill>
                  <a:schemeClr val="tx2"/>
                </a:solidFill>
              </a:rPr>
              <a:t>Severe storm</a:t>
            </a:r>
            <a:endParaRPr lang="en-US" sz="1500" dirty="0"/>
          </a:p>
        </p:txBody>
      </p:sp>
      <p:sp>
        <p:nvSpPr>
          <p:cNvPr id="12" name="Preset 3"/>
          <p:cNvSpPr/>
          <p:nvPr/>
        </p:nvSpPr>
        <p:spPr>
          <a:xfrm>
            <a:off x="5669280" y="5440680"/>
            <a:ext cx="2377440" cy="548640"/>
          </a:xfrm>
          <a:prstGeom prst="roundRect">
            <a:avLst>
              <a:gd name="adj" fmla="val 50000"/>
            </a:avLst>
          </a:prstGeom>
          <a:solidFill>
            <a:schemeClr val="accent1"/>
          </a:solidFill>
          <a:ln w="12700">
            <a:solidFill>
              <a:srgbClr val="CFDBE6"/>
            </a:solidFill>
            <a:prstDash val="solid"/>
          </a:ln>
        </p:spPr>
      </p:sp>
      <p:sp>
        <p:nvSpPr>
          <p:cNvPr id="13" name="Text 9"/>
          <p:cNvSpPr txBox="1"/>
          <p:nvPr/>
        </p:nvSpPr>
        <p:spPr>
          <a:xfrm>
            <a:off x="5669280" y="5440680"/>
            <a:ext cx="2377440" cy="548640"/>
          </a:xfrm>
          <a:prstGeom prst="rect">
            <a:avLst/>
          </a:prstGeom>
          <a:noFill/>
          <a:ln/>
        </p:spPr>
        <p:txBody>
          <a:bodyPr wrap="square" lIns="0" tIns="0" rIns="0" bIns="0" rtlCol="0" anchor="ctr"/>
          <a:lstStyle/>
          <a:p>
            <a:pPr algn="ctr" indent="0" marL="0">
              <a:buNone/>
            </a:pPr>
            <a:r>
              <a:rPr lang="en-US" sz="1500" b="1" dirty="0">
                <a:solidFill>
                  <a:schemeClr val="bg1"/>
                </a:solidFill>
              </a:rPr>
              <a:t>Extreme flood</a:t>
            </a:r>
            <a:endParaRPr lang="en-US" sz="1500" dirty="0"/>
          </a:p>
        </p:txBody>
      </p:sp>
      <p:sp>
        <p:nvSpPr>
          <p:cNvPr id="14" name="Result callout"/>
          <p:cNvSpPr/>
          <p:nvPr/>
        </p:nvSpPr>
        <p:spPr>
          <a:xfrm>
            <a:off x="8412480" y="1417320"/>
            <a:ext cx="3200400" cy="4526280"/>
          </a:xfrm>
          <a:prstGeom prst="roundRect">
            <a:avLst>
              <a:gd name="adj" fmla="val 3429"/>
            </a:avLst>
          </a:prstGeom>
          <a:solidFill>
            <a:schemeClr val="tx1"/>
          </a:solidFill>
          <a:ln w="12700">
            <a:solidFill>
              <a:schemeClr val="tx1"/>
            </a:solidFill>
            <a:prstDash val="solid"/>
          </a:ln>
        </p:spPr>
      </p:sp>
      <p:sp>
        <p:nvSpPr>
          <p:cNvPr id="15" name="Text 11"/>
          <p:cNvSpPr txBox="1"/>
          <p:nvPr/>
        </p:nvSpPr>
        <p:spPr>
          <a:xfrm>
            <a:off x="8686800" y="1691640"/>
            <a:ext cx="2651760" cy="320040"/>
          </a:xfrm>
          <a:prstGeom prst="rect">
            <a:avLst/>
          </a:prstGeom>
          <a:noFill/>
          <a:ln/>
        </p:spPr>
        <p:txBody>
          <a:bodyPr wrap="square" lIns="0" tIns="0" rIns="0" bIns="0" rtlCol="0" anchor="t"/>
          <a:lstStyle/>
          <a:p>
            <a:pPr indent="0" marL="0">
              <a:buNone/>
            </a:pPr>
            <a:r>
              <a:rPr lang="en-US" sz="1400" dirty="0">
                <a:solidFill>
                  <a:schemeClr val="bg2"/>
                </a:solidFill>
              </a:rPr>
              <a:t>Risk score</a:t>
            </a:r>
            <a:endParaRPr lang="en-US" sz="1400" dirty="0"/>
          </a:p>
        </p:txBody>
      </p:sp>
      <p:sp>
        <p:nvSpPr>
          <p:cNvPr id="16" name="Text 12"/>
          <p:cNvSpPr txBox="1"/>
          <p:nvPr/>
        </p:nvSpPr>
        <p:spPr>
          <a:xfrm>
            <a:off x="8686800" y="2057400"/>
            <a:ext cx="2651760" cy="914400"/>
          </a:xfrm>
          <a:prstGeom prst="rect">
            <a:avLst/>
          </a:prstGeom>
          <a:noFill/>
          <a:ln/>
        </p:spPr>
        <p:txBody>
          <a:bodyPr wrap="square" lIns="0" tIns="0" rIns="0" bIns="0" rtlCol="0" anchor="t"/>
          <a:lstStyle/>
          <a:p>
            <a:pPr indent="0" marL="0">
              <a:buNone/>
            </a:pPr>
            <a:r>
              <a:rPr lang="en-US" sz="6000" b="1" dirty="0">
                <a:solidFill>
                  <a:schemeClr val="bg1"/>
                </a:solidFill>
              </a:rPr>
              <a:t>15</a:t>
            </a:r>
            <a:pPr indent="0" marL="0">
              <a:buNone/>
            </a:pPr>
            <a:r>
              <a:rPr lang="en-US" sz="3600" b="1" dirty="0">
                <a:solidFill>
                  <a:schemeClr val="bg2"/>
                </a:solidFill>
              </a:rPr>
              <a:t> → </a:t>
            </a:r>
            <a:pPr indent="0" marL="0">
              <a:buNone/>
            </a:pPr>
            <a:r>
              <a:rPr lang="en-US" sz="6000" b="1" dirty="0">
                <a:solidFill>
                  <a:schemeClr val="accent4"/>
                </a:solidFill>
              </a:rPr>
              <a:t>53</a:t>
            </a:r>
            <a:endParaRPr lang="en-US" sz="6000" dirty="0"/>
          </a:p>
        </p:txBody>
      </p:sp>
      <p:sp>
        <p:nvSpPr>
          <p:cNvPr id="17" name="Text 13"/>
          <p:cNvSpPr txBox="1"/>
          <p:nvPr/>
        </p:nvSpPr>
        <p:spPr>
          <a:xfrm>
            <a:off x="8686800" y="3108960"/>
            <a:ext cx="2651760" cy="731520"/>
          </a:xfrm>
          <a:prstGeom prst="rect">
            <a:avLst/>
          </a:prstGeom>
          <a:noFill/>
          <a:ln/>
        </p:spPr>
        <p:txBody>
          <a:bodyPr wrap="square" lIns="0" tIns="0" rIns="0" bIns="0" rtlCol="0" anchor="t"/>
          <a:lstStyle/>
          <a:p>
            <a:pPr indent="0" marL="0">
              <a:buNone/>
            </a:pPr>
            <a:r>
              <a:rPr lang="en-US" sz="1500" dirty="0">
                <a:solidFill>
                  <a:schemeClr val="bg1"/>
                </a:solidFill>
              </a:rPr>
              <a:t>Extreme flood preset on today's Toulouse data.</a:t>
            </a:r>
            <a:endParaRPr lang="en-US" sz="1500" dirty="0"/>
          </a:p>
        </p:txBody>
      </p:sp>
      <p:sp>
        <p:nvSpPr>
          <p:cNvPr id="18" name="Text 14"/>
          <p:cNvSpPr txBox="1"/>
          <p:nvPr/>
        </p:nvSpPr>
        <p:spPr>
          <a:xfrm>
            <a:off x="8686800" y="4023360"/>
            <a:ext cx="2651760" cy="1097280"/>
          </a:xfrm>
          <a:prstGeom prst="rect">
            <a:avLst/>
          </a:prstGeom>
          <a:noFill/>
          <a:ln/>
        </p:spPr>
        <p:txBody>
          <a:bodyPr wrap="square" lIns="0" tIns="0" rIns="0" bIns="0" rtlCol="0" anchor="t"/>
          <a:lstStyle/>
          <a:p>
            <a:pPr indent="0" marL="0">
              <a:buNone/>
            </a:pPr>
            <a:r>
              <a:rPr lang="en-US" sz="1500" b="1" dirty="0">
                <a:solidFill>
                  <a:schemeClr val="accent4"/>
                </a:solidFill>
              </a:rPr>
              <a:t>Would trigger a High warning. Preview only: no real warning is created.</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An explainable risk engine, not a black box</a:t>
            </a:r>
            <a:endParaRPr lang="en-US" sz="3600" dirty="0"/>
          </a:p>
        </p:txBody>
      </p:sp>
      <p:sp>
        <p:nvSpPr>
          <p:cNvPr id="3" name="Factor 1"/>
          <p:cNvSpPr/>
          <p:nvPr/>
        </p:nvSpPr>
        <p:spPr>
          <a:xfrm>
            <a:off x="548640" y="1417320"/>
            <a:ext cx="3749040" cy="868680"/>
          </a:xfrm>
          <a:prstGeom prst="roundRect">
            <a:avLst>
              <a:gd name="adj" fmla="val 12632"/>
            </a:avLst>
          </a:prstGeom>
          <a:solidFill>
            <a:schemeClr val="bg2"/>
          </a:solidFill>
          <a:ln w="12700">
            <a:solidFill>
              <a:schemeClr val="bg2"/>
            </a:solidFill>
            <a:prstDash val="solid"/>
          </a:ln>
        </p:spPr>
      </p:sp>
      <p:sp>
        <p:nvSpPr>
          <p:cNvPr id="4" name="Text 2"/>
          <p:cNvSpPr txBox="1"/>
          <p:nvPr/>
        </p:nvSpPr>
        <p:spPr>
          <a:xfrm>
            <a:off x="777240" y="1527048"/>
            <a:ext cx="2194560" cy="320040"/>
          </a:xfrm>
          <a:prstGeom prst="rect">
            <a:avLst/>
          </a:prstGeom>
          <a:noFill/>
          <a:ln/>
        </p:spPr>
        <p:txBody>
          <a:bodyPr wrap="square" lIns="0" tIns="0" rIns="0" bIns="0" rtlCol="0" anchor="t"/>
          <a:lstStyle/>
          <a:p>
            <a:pPr indent="0" marL="0">
              <a:buNone/>
            </a:pPr>
            <a:r>
              <a:rPr lang="en-US" sz="1700" b="1" dirty="0">
                <a:solidFill>
                  <a:schemeClr val="tx1"/>
                </a:solidFill>
              </a:rPr>
              <a:t>Rainfall (24 h)</a:t>
            </a:r>
            <a:endParaRPr lang="en-US" sz="1700" dirty="0"/>
          </a:p>
        </p:txBody>
      </p:sp>
      <p:sp>
        <p:nvSpPr>
          <p:cNvPr id="5" name="Text 3"/>
          <p:cNvSpPr txBox="1"/>
          <p:nvPr/>
        </p:nvSpPr>
        <p:spPr>
          <a:xfrm>
            <a:off x="777240" y="1874520"/>
            <a:ext cx="2651760" cy="320040"/>
          </a:xfrm>
          <a:prstGeom prst="rect">
            <a:avLst/>
          </a:prstGeom>
          <a:noFill/>
          <a:ln/>
        </p:spPr>
        <p:txBody>
          <a:bodyPr wrap="square" lIns="0" tIns="0" rIns="0" bIns="0" rtlCol="0" anchor="t"/>
          <a:lstStyle/>
          <a:p>
            <a:pPr indent="0" marL="0">
              <a:buNone/>
            </a:pPr>
            <a:r>
              <a:rPr lang="en-US" sz="1300" dirty="0">
                <a:solidFill>
                  <a:srgbClr val="5B6B7C"/>
                </a:solidFill>
              </a:rPr>
              <a:t>vs. a 40 mm reference</a:t>
            </a:r>
            <a:endParaRPr lang="en-US" sz="1300" dirty="0"/>
          </a:p>
        </p:txBody>
      </p:sp>
      <p:sp>
        <p:nvSpPr>
          <p:cNvPr id="6" name="Weight 1"/>
          <p:cNvSpPr/>
          <p:nvPr/>
        </p:nvSpPr>
        <p:spPr>
          <a:xfrm>
            <a:off x="3383280" y="1600200"/>
            <a:ext cx="731520" cy="502920"/>
          </a:xfrm>
          <a:prstGeom prst="roundRect">
            <a:avLst>
              <a:gd name="adj" fmla="val 49091"/>
            </a:avLst>
          </a:prstGeom>
          <a:solidFill>
            <a:schemeClr val="accent1"/>
          </a:solidFill>
          <a:ln w="12700">
            <a:solidFill>
              <a:schemeClr val="accent1"/>
            </a:solidFill>
            <a:prstDash val="solid"/>
          </a:ln>
        </p:spPr>
      </p:sp>
      <p:sp>
        <p:nvSpPr>
          <p:cNvPr id="7" name="Text 5"/>
          <p:cNvSpPr txBox="1"/>
          <p:nvPr/>
        </p:nvSpPr>
        <p:spPr>
          <a:xfrm>
            <a:off x="3383280" y="1600200"/>
            <a:ext cx="731520" cy="502920"/>
          </a:xfrm>
          <a:prstGeom prst="rect">
            <a:avLst/>
          </a:prstGeom>
          <a:no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8" name="Factor 2"/>
          <p:cNvSpPr/>
          <p:nvPr/>
        </p:nvSpPr>
        <p:spPr>
          <a:xfrm>
            <a:off x="548640" y="2441448"/>
            <a:ext cx="3749040" cy="868680"/>
          </a:xfrm>
          <a:prstGeom prst="roundRect">
            <a:avLst>
              <a:gd name="adj" fmla="val 12632"/>
            </a:avLst>
          </a:prstGeom>
          <a:solidFill>
            <a:schemeClr val="bg2"/>
          </a:solidFill>
          <a:ln w="12700">
            <a:solidFill>
              <a:schemeClr val="bg2"/>
            </a:solidFill>
            <a:prstDash val="solid"/>
          </a:ln>
        </p:spPr>
      </p:sp>
      <p:sp>
        <p:nvSpPr>
          <p:cNvPr id="9" name="Text 7"/>
          <p:cNvSpPr txBox="1"/>
          <p:nvPr/>
        </p:nvSpPr>
        <p:spPr>
          <a:xfrm>
            <a:off x="777240" y="2551176"/>
            <a:ext cx="2194560" cy="320040"/>
          </a:xfrm>
          <a:prstGeom prst="rect">
            <a:avLst/>
          </a:prstGeom>
          <a:noFill/>
          <a:ln/>
        </p:spPr>
        <p:txBody>
          <a:bodyPr wrap="square" lIns="0" tIns="0" rIns="0" bIns="0" rtlCol="0" anchor="t"/>
          <a:lstStyle/>
          <a:p>
            <a:pPr indent="0" marL="0">
              <a:buNone/>
            </a:pPr>
            <a:r>
              <a:rPr lang="en-US" sz="1700" b="1" dirty="0">
                <a:solidFill>
                  <a:schemeClr val="tx1"/>
                </a:solidFill>
              </a:rPr>
              <a:t>Hydrology</a:t>
            </a:r>
            <a:endParaRPr lang="en-US" sz="1700" dirty="0"/>
          </a:p>
        </p:txBody>
      </p:sp>
      <p:sp>
        <p:nvSpPr>
          <p:cNvPr id="10" name="Text 8"/>
          <p:cNvSpPr txBox="1"/>
          <p:nvPr/>
        </p:nvSpPr>
        <p:spPr>
          <a:xfrm>
            <a:off x="777240" y="2898648"/>
            <a:ext cx="2651760" cy="320040"/>
          </a:xfrm>
          <a:prstGeom prst="rect">
            <a:avLst/>
          </a:prstGeom>
          <a:noFill/>
          <a:ln/>
        </p:spPr>
        <p:txBody>
          <a:bodyPr wrap="square" lIns="0" tIns="0" rIns="0" bIns="0" rtlCol="0" anchor="t"/>
          <a:lstStyle/>
          <a:p>
            <a:pPr indent="0" marL="0">
              <a:buNone/>
            </a:pPr>
            <a:r>
              <a:rPr lang="en-US" sz="1300" dirty="0">
                <a:solidFill>
                  <a:srgbClr val="5B6B7C"/>
                </a:solidFill>
              </a:rPr>
              <a:t>level vs. station history</a:t>
            </a:r>
            <a:endParaRPr lang="en-US" sz="1300" dirty="0"/>
          </a:p>
        </p:txBody>
      </p:sp>
      <p:sp>
        <p:nvSpPr>
          <p:cNvPr id="11" name="Weight 2"/>
          <p:cNvSpPr/>
          <p:nvPr/>
        </p:nvSpPr>
        <p:spPr>
          <a:xfrm>
            <a:off x="3383280" y="2624328"/>
            <a:ext cx="731520" cy="502920"/>
          </a:xfrm>
          <a:prstGeom prst="roundRect">
            <a:avLst>
              <a:gd name="adj" fmla="val 49091"/>
            </a:avLst>
          </a:prstGeom>
          <a:solidFill>
            <a:schemeClr val="accent1"/>
          </a:solidFill>
          <a:ln w="12700">
            <a:solidFill>
              <a:schemeClr val="accent1"/>
            </a:solidFill>
            <a:prstDash val="solid"/>
          </a:ln>
        </p:spPr>
      </p:sp>
      <p:sp>
        <p:nvSpPr>
          <p:cNvPr id="12" name="Text 10"/>
          <p:cNvSpPr txBox="1"/>
          <p:nvPr/>
        </p:nvSpPr>
        <p:spPr>
          <a:xfrm>
            <a:off x="3383280" y="2624328"/>
            <a:ext cx="731520" cy="502920"/>
          </a:xfrm>
          <a:prstGeom prst="rect">
            <a:avLst/>
          </a:prstGeom>
          <a:no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13" name="Factor 3"/>
          <p:cNvSpPr/>
          <p:nvPr/>
        </p:nvSpPr>
        <p:spPr>
          <a:xfrm>
            <a:off x="548640" y="3465576"/>
            <a:ext cx="3749040" cy="868680"/>
          </a:xfrm>
          <a:prstGeom prst="roundRect">
            <a:avLst>
              <a:gd name="adj" fmla="val 12632"/>
            </a:avLst>
          </a:prstGeom>
          <a:solidFill>
            <a:schemeClr val="bg2"/>
          </a:solidFill>
          <a:ln w="12700">
            <a:solidFill>
              <a:schemeClr val="bg2"/>
            </a:solidFill>
            <a:prstDash val="solid"/>
          </a:ln>
        </p:spPr>
      </p:sp>
      <p:sp>
        <p:nvSpPr>
          <p:cNvPr id="14" name="Text 12"/>
          <p:cNvSpPr txBox="1"/>
          <p:nvPr/>
        </p:nvSpPr>
        <p:spPr>
          <a:xfrm>
            <a:off x="777240" y="3575304"/>
            <a:ext cx="2194560" cy="320040"/>
          </a:xfrm>
          <a:prstGeom prst="rect">
            <a:avLst/>
          </a:prstGeom>
          <a:noFill/>
          <a:ln/>
        </p:spPr>
        <p:txBody>
          <a:bodyPr wrap="square" lIns="0" tIns="0" rIns="0" bIns="0" rtlCol="0" anchor="t"/>
          <a:lstStyle/>
          <a:p>
            <a:pPr indent="0" marL="0">
              <a:buNone/>
            </a:pPr>
            <a:r>
              <a:rPr lang="en-US" sz="1700" b="1" dirty="0">
                <a:solidFill>
                  <a:schemeClr val="tx1"/>
                </a:solidFill>
              </a:rPr>
              <a:t>Environmental</a:t>
            </a:r>
            <a:endParaRPr lang="en-US" sz="1700" dirty="0"/>
          </a:p>
        </p:txBody>
      </p:sp>
      <p:sp>
        <p:nvSpPr>
          <p:cNvPr id="15" name="Text 13"/>
          <p:cNvSpPr txBox="1"/>
          <p:nvPr/>
        </p:nvSpPr>
        <p:spPr>
          <a:xfrm>
            <a:off x="777240" y="3922776"/>
            <a:ext cx="2651760" cy="320040"/>
          </a:xfrm>
          <a:prstGeom prst="rect">
            <a:avLst/>
          </a:prstGeom>
          <a:noFill/>
          <a:ln/>
        </p:spPr>
        <p:txBody>
          <a:bodyPr wrap="square" lIns="0" tIns="0" rIns="0" bIns="0" rtlCol="0" anchor="t"/>
          <a:lstStyle/>
          <a:p>
            <a:pPr indent="0" marL="0">
              <a:buNone/>
            </a:pPr>
            <a:r>
              <a:rPr lang="en-US" sz="1300" dirty="0">
                <a:solidFill>
                  <a:srgbClr val="5B6B7C"/>
                </a:solidFill>
              </a:rPr>
              <a:t>soil moisture</a:t>
            </a:r>
            <a:endParaRPr lang="en-US" sz="1300" dirty="0"/>
          </a:p>
        </p:txBody>
      </p:sp>
      <p:sp>
        <p:nvSpPr>
          <p:cNvPr id="16" name="Weight 3"/>
          <p:cNvSpPr/>
          <p:nvPr/>
        </p:nvSpPr>
        <p:spPr>
          <a:xfrm>
            <a:off x="3383280" y="3648456"/>
            <a:ext cx="731520" cy="502920"/>
          </a:xfrm>
          <a:prstGeom prst="roundRect">
            <a:avLst>
              <a:gd name="adj" fmla="val 49091"/>
            </a:avLst>
          </a:prstGeom>
          <a:solidFill>
            <a:schemeClr val="accent1"/>
          </a:solidFill>
          <a:ln w="12700">
            <a:solidFill>
              <a:schemeClr val="accent1"/>
            </a:solidFill>
            <a:prstDash val="solid"/>
          </a:ln>
        </p:spPr>
      </p:sp>
      <p:sp>
        <p:nvSpPr>
          <p:cNvPr id="17" name="Text 15"/>
          <p:cNvSpPr txBox="1"/>
          <p:nvPr/>
        </p:nvSpPr>
        <p:spPr>
          <a:xfrm>
            <a:off x="3383280" y="3648456"/>
            <a:ext cx="731520" cy="502920"/>
          </a:xfrm>
          <a:prstGeom prst="rect">
            <a:avLst/>
          </a:prstGeom>
          <a:noFill/>
          <a:ln/>
        </p:spPr>
        <p:txBody>
          <a:bodyPr wrap="square" lIns="0" tIns="0" rIns="0" bIns="0" rtlCol="0" anchor="ctr"/>
          <a:lstStyle/>
          <a:p>
            <a:pPr algn="ctr" indent="0" marL="0">
              <a:buNone/>
            </a:pPr>
            <a:r>
              <a:rPr lang="en-US" sz="1600" b="1" dirty="0">
                <a:solidFill>
                  <a:schemeClr val="bg1"/>
                </a:solidFill>
              </a:rPr>
              <a:t>20%</a:t>
            </a:r>
            <a:endParaRPr lang="en-US" sz="1600" dirty="0"/>
          </a:p>
        </p:txBody>
      </p:sp>
      <p:sp>
        <p:nvSpPr>
          <p:cNvPr id="18" name="Factor 4"/>
          <p:cNvSpPr/>
          <p:nvPr/>
        </p:nvSpPr>
        <p:spPr>
          <a:xfrm>
            <a:off x="548640" y="4489704"/>
            <a:ext cx="3749040" cy="868680"/>
          </a:xfrm>
          <a:prstGeom prst="roundRect">
            <a:avLst>
              <a:gd name="adj" fmla="val 12632"/>
            </a:avLst>
          </a:prstGeom>
          <a:solidFill>
            <a:schemeClr val="bg2"/>
          </a:solidFill>
          <a:ln w="12700">
            <a:solidFill>
              <a:schemeClr val="bg2"/>
            </a:solidFill>
            <a:prstDash val="solid"/>
          </a:ln>
        </p:spPr>
      </p:sp>
      <p:sp>
        <p:nvSpPr>
          <p:cNvPr id="19" name="Text 17"/>
          <p:cNvSpPr txBox="1"/>
          <p:nvPr/>
        </p:nvSpPr>
        <p:spPr>
          <a:xfrm>
            <a:off x="777240" y="4599432"/>
            <a:ext cx="2194560" cy="320040"/>
          </a:xfrm>
          <a:prstGeom prst="rect">
            <a:avLst/>
          </a:prstGeom>
          <a:noFill/>
          <a:ln/>
        </p:spPr>
        <p:txBody>
          <a:bodyPr wrap="square" lIns="0" tIns="0" rIns="0" bIns="0" rtlCol="0" anchor="t"/>
          <a:lstStyle/>
          <a:p>
            <a:pPr indent="0" marL="0">
              <a:buNone/>
            </a:pPr>
            <a:r>
              <a:rPr lang="en-US" sz="1700" b="1" dirty="0">
                <a:solidFill>
                  <a:schemeClr val="tx1"/>
                </a:solidFill>
              </a:rPr>
              <a:t>Trend</a:t>
            </a:r>
            <a:endParaRPr lang="en-US" sz="1700" dirty="0"/>
          </a:p>
        </p:txBody>
      </p:sp>
      <p:sp>
        <p:nvSpPr>
          <p:cNvPr id="20" name="Text 18"/>
          <p:cNvSpPr txBox="1"/>
          <p:nvPr/>
        </p:nvSpPr>
        <p:spPr>
          <a:xfrm>
            <a:off x="777240" y="4946904"/>
            <a:ext cx="2651760" cy="320040"/>
          </a:xfrm>
          <a:prstGeom prst="rect">
            <a:avLst/>
          </a:prstGeom>
          <a:noFill/>
          <a:ln/>
        </p:spPr>
        <p:txBody>
          <a:bodyPr wrap="square" lIns="0" tIns="0" rIns="0" bIns="0" rtlCol="0" anchor="t"/>
          <a:lstStyle/>
          <a:p>
            <a:pPr indent="0" marL="0">
              <a:buNone/>
            </a:pPr>
            <a:r>
              <a:rPr lang="en-US" sz="1300" dirty="0">
                <a:solidFill>
                  <a:srgbClr val="5B6B7C"/>
                </a:solidFill>
              </a:rPr>
              <a:t>6-hour rate of rise</a:t>
            </a:r>
            <a:endParaRPr lang="en-US" sz="1300" dirty="0"/>
          </a:p>
        </p:txBody>
      </p:sp>
      <p:sp>
        <p:nvSpPr>
          <p:cNvPr id="21" name="Weight 4"/>
          <p:cNvSpPr/>
          <p:nvPr/>
        </p:nvSpPr>
        <p:spPr>
          <a:xfrm>
            <a:off x="3383280" y="4672584"/>
            <a:ext cx="731520" cy="502920"/>
          </a:xfrm>
          <a:prstGeom prst="roundRect">
            <a:avLst>
              <a:gd name="adj" fmla="val 49091"/>
            </a:avLst>
          </a:prstGeom>
          <a:solidFill>
            <a:schemeClr val="accent1"/>
          </a:solidFill>
          <a:ln w="12700">
            <a:solidFill>
              <a:schemeClr val="accent1"/>
            </a:solidFill>
            <a:prstDash val="solid"/>
          </a:ln>
        </p:spPr>
      </p:sp>
      <p:sp>
        <p:nvSpPr>
          <p:cNvPr id="22" name="Text 20"/>
          <p:cNvSpPr txBox="1"/>
          <p:nvPr/>
        </p:nvSpPr>
        <p:spPr>
          <a:xfrm>
            <a:off x="3383280" y="4672584"/>
            <a:ext cx="731520" cy="502920"/>
          </a:xfrm>
          <a:prstGeom prst="rect">
            <a:avLst/>
          </a:prstGeom>
          <a:noFill/>
          <a:ln/>
        </p:spPr>
        <p:txBody>
          <a:bodyPr wrap="square" lIns="0" tIns="0" rIns="0" bIns="0" rtlCol="0" anchor="ctr"/>
          <a:lstStyle/>
          <a:p>
            <a:pPr algn="ctr" indent="0" marL="0">
              <a:buNone/>
            </a:pPr>
            <a:r>
              <a:rPr lang="en-US" sz="1600" b="1" dirty="0">
                <a:solidFill>
                  <a:schemeClr val="bg1"/>
                </a:solidFill>
              </a:rPr>
              <a:t>20%</a:t>
            </a:r>
            <a:endParaRPr lang="en-US" sz="1600" dirty="0"/>
          </a:p>
        </p:txBody>
      </p:sp>
      <p:sp>
        <p:nvSpPr>
          <p:cNvPr id="23" name="Arrow factors"/>
          <p:cNvSpPr/>
          <p:nvPr/>
        </p:nvSpPr>
        <p:spPr>
          <a:xfrm>
            <a:off x="4434840" y="3063240"/>
            <a:ext cx="502920" cy="457200"/>
          </a:xfrm>
          <a:prstGeom prst="rightArrow">
            <a:avLst/>
          </a:prstGeom>
          <a:solidFill>
            <a:schemeClr val="tx2"/>
          </a:solidFill>
          <a:ln w="12700">
            <a:solidFill>
              <a:schemeClr val="tx2"/>
            </a:solidFill>
            <a:prstDash val="solid"/>
          </a:ln>
        </p:spPr>
      </p:sp>
      <p:sp>
        <p:nvSpPr>
          <p:cNvPr id="24" name="Weighted average"/>
          <p:cNvSpPr/>
          <p:nvPr/>
        </p:nvSpPr>
        <p:spPr>
          <a:xfrm>
            <a:off x="5074920" y="2331720"/>
            <a:ext cx="2194560" cy="1920240"/>
          </a:xfrm>
          <a:prstGeom prst="roundRect">
            <a:avLst>
              <a:gd name="adj" fmla="val 5714"/>
            </a:avLst>
          </a:prstGeom>
          <a:solidFill>
            <a:schemeClr val="tx1"/>
          </a:solidFill>
          <a:ln w="12700">
            <a:solidFill>
              <a:schemeClr val="tx1"/>
            </a:solidFill>
            <a:prstDash val="solid"/>
          </a:ln>
        </p:spPr>
      </p:sp>
      <p:sp>
        <p:nvSpPr>
          <p:cNvPr id="25" name="Text 23"/>
          <p:cNvSpPr txBox="1"/>
          <p:nvPr/>
        </p:nvSpPr>
        <p:spPr>
          <a:xfrm>
            <a:off x="5074920" y="2514600"/>
            <a:ext cx="2194560" cy="365760"/>
          </a:xfrm>
          <a:prstGeom prst="rect">
            <a:avLst/>
          </a:prstGeom>
          <a:noFill/>
          <a:ln/>
        </p:spPr>
        <p:txBody>
          <a:bodyPr wrap="square" lIns="0" tIns="0" rIns="0" bIns="0" rtlCol="0" anchor="t"/>
          <a:lstStyle/>
          <a:p>
            <a:pPr algn="ctr" indent="0" marL="0">
              <a:buNone/>
            </a:pPr>
            <a:r>
              <a:rPr lang="en-US" sz="1700" b="1" dirty="0">
                <a:solidFill>
                  <a:schemeClr val="bg1"/>
                </a:solidFill>
              </a:rPr>
              <a:t>Weighted average</a:t>
            </a:r>
            <a:endParaRPr lang="en-US" sz="1700" dirty="0"/>
          </a:p>
        </p:txBody>
      </p:sp>
      <p:sp>
        <p:nvSpPr>
          <p:cNvPr id="26" name="Text 24"/>
          <p:cNvSpPr txBox="1"/>
          <p:nvPr/>
        </p:nvSpPr>
        <p:spPr>
          <a:xfrm>
            <a:off x="5074920" y="2926080"/>
            <a:ext cx="2194560" cy="731520"/>
          </a:xfrm>
          <a:prstGeom prst="rect">
            <a:avLst/>
          </a:prstGeom>
          <a:noFill/>
          <a:ln/>
        </p:spPr>
        <p:txBody>
          <a:bodyPr wrap="square" lIns="0" tIns="0" rIns="0" bIns="0" rtlCol="0" anchor="t"/>
          <a:lstStyle/>
          <a:p>
            <a:pPr algn="ctr" indent="0" marL="0">
              <a:buNone/>
            </a:pPr>
            <a:r>
              <a:rPr lang="en-US" sz="4000" b="1" dirty="0">
                <a:solidFill>
                  <a:schemeClr val="accent4"/>
                </a:solidFill>
              </a:rPr>
              <a:t>0–100</a:t>
            </a:r>
            <a:endParaRPr lang="en-US" sz="4000" dirty="0"/>
          </a:p>
        </p:txBody>
      </p:sp>
      <p:sp>
        <p:nvSpPr>
          <p:cNvPr id="27" name="Text 25"/>
          <p:cNvSpPr txBox="1"/>
          <p:nvPr/>
        </p:nvSpPr>
        <p:spPr>
          <a:xfrm>
            <a:off x="5074920" y="3657600"/>
            <a:ext cx="2194560" cy="320040"/>
          </a:xfrm>
          <a:prstGeom prst="rect">
            <a:avLst/>
          </a:prstGeom>
          <a:noFill/>
          <a:ln/>
        </p:spPr>
        <p:txBody>
          <a:bodyPr wrap="square" lIns="0" tIns="0" rIns="0" bIns="0" rtlCol="0" anchor="t"/>
          <a:lstStyle/>
          <a:p>
            <a:pPr algn="ctr" indent="0" marL="0">
              <a:buNone/>
            </a:pPr>
            <a:r>
              <a:rPr lang="en-US" sz="1500" dirty="0">
                <a:solidFill>
                  <a:schemeClr val="bg2"/>
                </a:solidFill>
              </a:rPr>
              <a:t>risk score</a:t>
            </a:r>
            <a:endParaRPr lang="en-US" sz="1500" dirty="0"/>
          </a:p>
        </p:txBody>
      </p:sp>
      <p:sp>
        <p:nvSpPr>
          <p:cNvPr id="28" name="Arrow bands"/>
          <p:cNvSpPr/>
          <p:nvPr/>
        </p:nvSpPr>
        <p:spPr>
          <a:xfrm>
            <a:off x="7406640" y="3063240"/>
            <a:ext cx="502920" cy="457200"/>
          </a:xfrm>
          <a:prstGeom prst="rightArrow">
            <a:avLst/>
          </a:prstGeom>
          <a:solidFill>
            <a:schemeClr val="tx2"/>
          </a:solidFill>
          <a:ln w="12700">
            <a:solidFill>
              <a:schemeClr val="tx2"/>
            </a:solidFill>
            <a:prstDash val="solid"/>
          </a:ln>
        </p:spPr>
      </p:sp>
      <p:sp>
        <p:nvSpPr>
          <p:cNvPr id="29" name="Band Critical"/>
          <p:cNvSpPr/>
          <p:nvPr/>
        </p:nvSpPr>
        <p:spPr>
          <a:xfrm>
            <a:off x="8092440" y="1417320"/>
            <a:ext cx="3520440" cy="868680"/>
          </a:xfrm>
          <a:prstGeom prst="roundRect">
            <a:avLst>
              <a:gd name="adj" fmla="val 12632"/>
            </a:avLst>
          </a:prstGeom>
          <a:solidFill>
            <a:schemeClr val="accent6"/>
          </a:solidFill>
          <a:ln w="12700">
            <a:solidFill>
              <a:schemeClr val="accent6"/>
            </a:solidFill>
            <a:prstDash val="solid"/>
          </a:ln>
        </p:spPr>
      </p:sp>
      <p:sp>
        <p:nvSpPr>
          <p:cNvPr id="30" name="Text 28"/>
          <p:cNvSpPr txBox="1"/>
          <p:nvPr/>
        </p:nvSpPr>
        <p:spPr>
          <a:xfrm>
            <a:off x="8366760" y="1417320"/>
            <a:ext cx="1828800" cy="868680"/>
          </a:xfrm>
          <a:prstGeom prst="rect">
            <a:avLst/>
          </a:prstGeom>
          <a:noFill/>
          <a:ln/>
        </p:spPr>
        <p:txBody>
          <a:bodyPr wrap="square" lIns="0" tIns="0" rIns="0" bIns="0" rtlCol="0" anchor="ctr"/>
          <a:lstStyle/>
          <a:p>
            <a:pPr indent="0" marL="0">
              <a:buNone/>
            </a:pPr>
            <a:r>
              <a:rPr lang="en-US" sz="2000" b="1" dirty="0">
                <a:solidFill>
                  <a:schemeClr val="bg1"/>
                </a:solidFill>
              </a:rPr>
              <a:t>Critical</a:t>
            </a:r>
            <a:endParaRPr lang="en-US" sz="2000" dirty="0"/>
          </a:p>
        </p:txBody>
      </p:sp>
      <p:sp>
        <p:nvSpPr>
          <p:cNvPr id="31" name="Text 29"/>
          <p:cNvSpPr txBox="1"/>
          <p:nvPr/>
        </p:nvSpPr>
        <p:spPr>
          <a:xfrm>
            <a:off x="10058400" y="1417320"/>
            <a:ext cx="1417320" cy="868680"/>
          </a:xfrm>
          <a:prstGeom prst="rect">
            <a:avLst/>
          </a:prstGeom>
          <a:noFill/>
          <a:ln/>
        </p:spPr>
        <p:txBody>
          <a:bodyPr wrap="square" lIns="0" tIns="0" rIns="0" bIns="0" rtlCol="0" anchor="ctr"/>
          <a:lstStyle/>
          <a:p>
            <a:pPr algn="r" indent="0" marL="0">
              <a:buNone/>
            </a:pPr>
            <a:r>
              <a:rPr lang="en-US" sz="1400" dirty="0">
                <a:solidFill>
                  <a:schemeClr val="bg1"/>
                </a:solidFill>
              </a:rPr>
              <a:t>75 and above</a:t>
            </a:r>
            <a:endParaRPr lang="en-US" sz="1400" dirty="0"/>
          </a:p>
        </p:txBody>
      </p:sp>
      <p:sp>
        <p:nvSpPr>
          <p:cNvPr id="32" name="Band High"/>
          <p:cNvSpPr/>
          <p:nvPr/>
        </p:nvSpPr>
        <p:spPr>
          <a:xfrm>
            <a:off x="8092440" y="2441448"/>
            <a:ext cx="3520440" cy="868680"/>
          </a:xfrm>
          <a:prstGeom prst="roundRect">
            <a:avLst>
              <a:gd name="adj" fmla="val 12632"/>
            </a:avLst>
          </a:prstGeom>
          <a:solidFill>
            <a:schemeClr val="accent5"/>
          </a:solidFill>
          <a:ln w="12700">
            <a:solidFill>
              <a:schemeClr val="accent5"/>
            </a:solidFill>
            <a:prstDash val="solid"/>
          </a:ln>
        </p:spPr>
      </p:sp>
      <p:sp>
        <p:nvSpPr>
          <p:cNvPr id="33" name="Text 31"/>
          <p:cNvSpPr txBox="1"/>
          <p:nvPr/>
        </p:nvSpPr>
        <p:spPr>
          <a:xfrm>
            <a:off x="8366760" y="2441448"/>
            <a:ext cx="1828800" cy="868680"/>
          </a:xfrm>
          <a:prstGeom prst="rect">
            <a:avLst/>
          </a:prstGeom>
          <a:noFill/>
          <a:ln/>
        </p:spPr>
        <p:txBody>
          <a:bodyPr wrap="square" lIns="0" tIns="0" rIns="0" bIns="0" rtlCol="0" anchor="ctr"/>
          <a:lstStyle/>
          <a:p>
            <a:pPr indent="0" marL="0">
              <a:buNone/>
            </a:pPr>
            <a:r>
              <a:rPr lang="en-US" sz="2000" b="1" dirty="0">
                <a:solidFill>
                  <a:schemeClr val="bg1"/>
                </a:solidFill>
              </a:rPr>
              <a:t>High</a:t>
            </a:r>
            <a:endParaRPr lang="en-US" sz="2000" dirty="0"/>
          </a:p>
        </p:txBody>
      </p:sp>
      <p:sp>
        <p:nvSpPr>
          <p:cNvPr id="34" name="Text 32"/>
          <p:cNvSpPr txBox="1"/>
          <p:nvPr/>
        </p:nvSpPr>
        <p:spPr>
          <a:xfrm>
            <a:off x="10058400" y="2441448"/>
            <a:ext cx="1417320" cy="868680"/>
          </a:xfrm>
          <a:prstGeom prst="rect">
            <a:avLst/>
          </a:prstGeom>
          <a:noFill/>
          <a:ln/>
        </p:spPr>
        <p:txBody>
          <a:bodyPr wrap="square" lIns="0" tIns="0" rIns="0" bIns="0" rtlCol="0" anchor="ctr"/>
          <a:lstStyle/>
          <a:p>
            <a:pPr algn="r" indent="0" marL="0">
              <a:buNone/>
            </a:pPr>
            <a:r>
              <a:rPr lang="en-US" sz="1400" dirty="0">
                <a:solidFill>
                  <a:schemeClr val="bg1"/>
                </a:solidFill>
              </a:rPr>
              <a:t>50 to 75</a:t>
            </a:r>
            <a:endParaRPr lang="en-US" sz="1400" dirty="0"/>
          </a:p>
        </p:txBody>
      </p:sp>
      <p:sp>
        <p:nvSpPr>
          <p:cNvPr id="35" name="Band Moderate"/>
          <p:cNvSpPr/>
          <p:nvPr/>
        </p:nvSpPr>
        <p:spPr>
          <a:xfrm>
            <a:off x="8092440" y="3465576"/>
            <a:ext cx="3520440" cy="868680"/>
          </a:xfrm>
          <a:prstGeom prst="roundRect">
            <a:avLst>
              <a:gd name="adj" fmla="val 12632"/>
            </a:avLst>
          </a:prstGeom>
          <a:solidFill>
            <a:schemeClr val="accent4"/>
          </a:solidFill>
          <a:ln w="12700">
            <a:solidFill>
              <a:schemeClr val="accent4"/>
            </a:solidFill>
            <a:prstDash val="solid"/>
          </a:ln>
        </p:spPr>
      </p:sp>
      <p:sp>
        <p:nvSpPr>
          <p:cNvPr id="36" name="Text 34"/>
          <p:cNvSpPr txBox="1"/>
          <p:nvPr/>
        </p:nvSpPr>
        <p:spPr>
          <a:xfrm>
            <a:off x="8366760" y="3465576"/>
            <a:ext cx="1828800" cy="868680"/>
          </a:xfrm>
          <a:prstGeom prst="rect">
            <a:avLst/>
          </a:prstGeom>
          <a:noFill/>
          <a:ln/>
        </p:spPr>
        <p:txBody>
          <a:bodyPr wrap="square" lIns="0" tIns="0" rIns="0" bIns="0" rtlCol="0" anchor="ctr"/>
          <a:lstStyle/>
          <a:p>
            <a:pPr indent="0" marL="0">
              <a:buNone/>
            </a:pPr>
            <a:r>
              <a:rPr lang="en-US" sz="2000" b="1" dirty="0">
                <a:solidFill>
                  <a:schemeClr val="tx1"/>
                </a:solidFill>
              </a:rPr>
              <a:t>Moderate</a:t>
            </a:r>
            <a:endParaRPr lang="en-US" sz="2000" dirty="0"/>
          </a:p>
        </p:txBody>
      </p:sp>
      <p:sp>
        <p:nvSpPr>
          <p:cNvPr id="37" name="Text 35"/>
          <p:cNvSpPr txBox="1"/>
          <p:nvPr/>
        </p:nvSpPr>
        <p:spPr>
          <a:xfrm>
            <a:off x="10058400" y="3465576"/>
            <a:ext cx="1417320" cy="868680"/>
          </a:xfrm>
          <a:prstGeom prst="rect">
            <a:avLst/>
          </a:prstGeom>
          <a:noFill/>
          <a:ln/>
        </p:spPr>
        <p:txBody>
          <a:bodyPr wrap="square" lIns="0" tIns="0" rIns="0" bIns="0" rtlCol="0" anchor="ctr"/>
          <a:lstStyle/>
          <a:p>
            <a:pPr algn="r" indent="0" marL="0">
              <a:buNone/>
            </a:pPr>
            <a:r>
              <a:rPr lang="en-US" sz="1400" dirty="0">
                <a:solidFill>
                  <a:schemeClr val="tx1"/>
                </a:solidFill>
              </a:rPr>
              <a:t>25 to 50</a:t>
            </a:r>
            <a:endParaRPr lang="en-US" sz="1400" dirty="0"/>
          </a:p>
        </p:txBody>
      </p:sp>
      <p:sp>
        <p:nvSpPr>
          <p:cNvPr id="38" name="Band Low"/>
          <p:cNvSpPr/>
          <p:nvPr/>
        </p:nvSpPr>
        <p:spPr>
          <a:xfrm>
            <a:off x="8092440" y="4489704"/>
            <a:ext cx="3520440" cy="868680"/>
          </a:xfrm>
          <a:prstGeom prst="roundRect">
            <a:avLst>
              <a:gd name="adj" fmla="val 12632"/>
            </a:avLst>
          </a:prstGeom>
          <a:solidFill>
            <a:schemeClr val="accent3"/>
          </a:solidFill>
          <a:ln w="12700">
            <a:solidFill>
              <a:schemeClr val="accent3"/>
            </a:solidFill>
            <a:prstDash val="solid"/>
          </a:ln>
        </p:spPr>
      </p:sp>
      <p:sp>
        <p:nvSpPr>
          <p:cNvPr id="39" name="Text 37"/>
          <p:cNvSpPr txBox="1"/>
          <p:nvPr/>
        </p:nvSpPr>
        <p:spPr>
          <a:xfrm>
            <a:off x="8366760" y="4489704"/>
            <a:ext cx="1828800" cy="868680"/>
          </a:xfrm>
          <a:prstGeom prst="rect">
            <a:avLst/>
          </a:prstGeom>
          <a:noFill/>
          <a:ln/>
        </p:spPr>
        <p:txBody>
          <a:bodyPr wrap="square" lIns="0" tIns="0" rIns="0" bIns="0" rtlCol="0" anchor="ctr"/>
          <a:lstStyle/>
          <a:p>
            <a:pPr indent="0" marL="0">
              <a:buNone/>
            </a:pPr>
            <a:r>
              <a:rPr lang="en-US" sz="2000" b="1" dirty="0">
                <a:solidFill>
                  <a:schemeClr val="bg1"/>
                </a:solidFill>
              </a:rPr>
              <a:t>Low</a:t>
            </a:r>
            <a:endParaRPr lang="en-US" sz="2000" dirty="0"/>
          </a:p>
        </p:txBody>
      </p:sp>
      <p:sp>
        <p:nvSpPr>
          <p:cNvPr id="40" name="Text 38"/>
          <p:cNvSpPr txBox="1"/>
          <p:nvPr/>
        </p:nvSpPr>
        <p:spPr>
          <a:xfrm>
            <a:off x="10058400" y="4489704"/>
            <a:ext cx="1417320" cy="868680"/>
          </a:xfrm>
          <a:prstGeom prst="rect">
            <a:avLst/>
          </a:prstGeom>
          <a:noFill/>
          <a:ln/>
        </p:spPr>
        <p:txBody>
          <a:bodyPr wrap="square" lIns="0" tIns="0" rIns="0" bIns="0" rtlCol="0" anchor="ctr"/>
          <a:lstStyle/>
          <a:p>
            <a:pPr algn="r" indent="0" marL="0">
              <a:buNone/>
            </a:pPr>
            <a:r>
              <a:rPr lang="en-US" sz="1400" dirty="0">
                <a:solidFill>
                  <a:schemeClr val="bg1"/>
                </a:solidFill>
              </a:rPr>
              <a:t>below 25</a:t>
            </a:r>
            <a:endParaRPr lang="en-US" sz="1400" dirty="0"/>
          </a:p>
        </p:txBody>
      </p:sp>
      <p:sp>
        <p:nvSpPr>
          <p:cNvPr id="41" name="Resilience note"/>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sp>
      <p:sp>
        <p:nvSpPr>
          <p:cNvPr id="42" name="Text 40"/>
          <p:cNvSpPr txBox="1"/>
          <p:nvPr/>
        </p:nvSpPr>
        <p:spPr>
          <a:xfrm>
            <a:off x="777240" y="5577840"/>
            <a:ext cx="10607040" cy="640080"/>
          </a:xfrm>
          <a:prstGeom prst="rect">
            <a:avLst/>
          </a:prstGeom>
          <a:noFill/>
          <a:ln/>
        </p:spPr>
        <p:txBody>
          <a:bodyPr wrap="square" lIns="0" tIns="0" rIns="0" bIns="0" rtlCol="0" anchor="ctr"/>
          <a:lstStyle/>
          <a:p>
            <a:pPr indent="0" marL="0">
              <a:buNone/>
            </a:pPr>
            <a:r>
              <a:rPr lang="en-US" sz="1400" dirty="0">
                <a:solidFill>
                  <a:schemeClr val="tx1"/>
                </a:solidFill>
              </a:rPr>
              <a:t>Missing data? That factor is dropped and the others are renormalized. Weights and thresholds are editable in Settings.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AI explains. Rules decide.</a:t>
            </a:r>
            <a:endParaRPr lang="en-US" sz="3600" dirty="0"/>
          </a:p>
        </p:txBody>
      </p:sp>
      <p:sp>
        <p:nvSpPr>
          <p:cNvPr id="3" name="Rules box"/>
          <p:cNvSpPr/>
          <p:nvPr/>
        </p:nvSpPr>
        <p:spPr>
          <a:xfrm>
            <a:off x="548640" y="1417320"/>
            <a:ext cx="4297680" cy="1691640"/>
          </a:xfrm>
          <a:prstGeom prst="roundRect">
            <a:avLst>
              <a:gd name="adj" fmla="val 6486"/>
            </a:avLst>
          </a:prstGeom>
          <a:solidFill>
            <a:schemeClr val="tx1"/>
          </a:solidFill>
          <a:ln w="12700">
            <a:solidFill>
              <a:schemeClr val="tx1"/>
            </a:solidFill>
            <a:prstDash val="solid"/>
          </a:ln>
        </p:spPr>
      </p:sp>
      <p:sp>
        <p:nvSpPr>
          <p:cNvPr id="4" name="Rules badge"/>
          <p:cNvSpPr/>
          <p:nvPr/>
        </p:nvSpPr>
        <p:spPr>
          <a:xfrm>
            <a:off x="777240" y="1645920"/>
            <a:ext cx="640080" cy="640080"/>
          </a:xfrm>
          <a:prstGeom prst="ellipse">
            <a:avLst/>
          </a:prstGeom>
          <a:solidFill>
            <a:schemeClr val="accent1"/>
          </a:solidFill>
          <a:ln w="12700">
            <a:solidFill>
              <a:schemeClr val="accent1"/>
            </a:solidFill>
            <a:prstDash val="solid"/>
          </a:ln>
        </p:spPr>
      </p:sp>
      <p:pic>
        <p:nvPicPr>
          <p:cNvPr id="5" name="Rules icon" descr="Rules">    </p:cNvPr>
          <p:cNvPicPr>
            <a:picLocks noChangeAspect="1"/>
          </p:cNvPicPr>
          <p:nvPr/>
        </p:nvPicPr>
        <p:blipFill>
          <a:blip r:embed="rId1"/>
          <a:stretch>
            <a:fillRect/>
          </a:stretch>
        </p:blipFill>
        <p:spPr>
          <a:xfrm>
            <a:off x="943661" y="1812341"/>
            <a:ext cx="307238" cy="307238"/>
          </a:xfrm>
          <a:prstGeom prst="rect">
            <a:avLst/>
          </a:prstGeom>
        </p:spPr>
      </p:pic>
      <p:sp>
        <p:nvSpPr>
          <p:cNvPr id="6" name="Text 3"/>
          <p:cNvSpPr txBox="1"/>
          <p:nvPr/>
        </p:nvSpPr>
        <p:spPr>
          <a:xfrm>
            <a:off x="1554480" y="1645920"/>
            <a:ext cx="3108960" cy="365760"/>
          </a:xfrm>
          <a:prstGeom prst="rect">
            <a:avLst/>
          </a:prstGeom>
          <a:noFill/>
          <a:ln/>
        </p:spPr>
        <p:txBody>
          <a:bodyPr wrap="square" lIns="0" tIns="0" rIns="0" bIns="0" rtlCol="0" anchor="t"/>
          <a:lstStyle/>
          <a:p>
            <a:pPr indent="0" marL="0">
              <a:buNone/>
            </a:pPr>
            <a:r>
              <a:rPr lang="en-US" sz="2000" b="1" dirty="0">
                <a:solidFill>
                  <a:schemeClr val="bg1"/>
                </a:solidFill>
              </a:rPr>
              <a:t>Risk engine</a:t>
            </a:r>
            <a:endParaRPr lang="en-US" sz="2000" dirty="0"/>
          </a:p>
        </p:txBody>
      </p:sp>
      <p:sp>
        <p:nvSpPr>
          <p:cNvPr id="7" name="Text 4"/>
          <p:cNvSpPr txBox="1"/>
          <p:nvPr/>
        </p:nvSpPr>
        <p:spPr>
          <a:xfrm>
            <a:off x="1554480" y="2057400"/>
            <a:ext cx="3108960" cy="914400"/>
          </a:xfrm>
          <a:prstGeom prst="rect">
            <a:avLst/>
          </a:prstGeom>
          <a:noFill/>
          <a:ln/>
        </p:spPr>
        <p:txBody>
          <a:bodyPr wrap="square" lIns="0" tIns="0" rIns="0" bIns="0" rtlCol="0" anchor="t"/>
          <a:lstStyle/>
          <a:p>
            <a:pPr indent="0" marL="0">
              <a:buNone/>
            </a:pPr>
            <a:r>
              <a:rPr lang="en-US" sz="1400" dirty="0">
                <a:solidFill>
                  <a:schemeClr val="bg2"/>
                </a:solidFill>
              </a:rPr>
              <a:t>Deterministic, tested and explainable. The AI never calculates risk.</a:t>
            </a:r>
            <a:endParaRPr lang="en-US" sz="1400" dirty="0"/>
          </a:p>
        </p:txBody>
      </p:sp>
      <p:sp>
        <p:nvSpPr>
          <p:cNvPr id="8" name="Arrow down"/>
          <p:cNvSpPr/>
          <p:nvPr/>
        </p:nvSpPr>
        <p:spPr>
          <a:xfrm>
            <a:off x="2514600" y="3200400"/>
            <a:ext cx="457200" cy="457200"/>
          </a:xfrm>
          <a:prstGeom prst="downArrow">
            <a:avLst/>
          </a:prstGeom>
          <a:solidFill>
            <a:schemeClr val="tx2"/>
          </a:solidFill>
          <a:ln w="12700">
            <a:solidFill>
              <a:schemeClr val="tx2"/>
            </a:solidFill>
            <a:prstDash val="solid"/>
          </a:ln>
        </p:spPr>
      </p:sp>
      <p:sp>
        <p:nvSpPr>
          <p:cNvPr id="9" name="AI box"/>
          <p:cNvSpPr/>
          <p:nvPr/>
        </p:nvSpPr>
        <p:spPr>
          <a:xfrm>
            <a:off x="548640" y="3749040"/>
            <a:ext cx="4297680" cy="2103120"/>
          </a:xfrm>
          <a:prstGeom prst="roundRect">
            <a:avLst>
              <a:gd name="adj" fmla="val 5217"/>
            </a:avLst>
          </a:prstGeom>
          <a:solidFill>
            <a:schemeClr val="accent2"/>
          </a:solidFill>
          <a:ln w="12700">
            <a:solidFill>
              <a:schemeClr val="accent2"/>
            </a:solidFill>
            <a:prstDash val="solid"/>
          </a:ln>
        </p:spPr>
      </p:sp>
      <p:sp>
        <p:nvSpPr>
          <p:cNvPr id="10" name="AI badge"/>
          <p:cNvSpPr/>
          <p:nvPr/>
        </p:nvSpPr>
        <p:spPr>
          <a:xfrm>
            <a:off x="777240" y="3977640"/>
            <a:ext cx="640080" cy="640080"/>
          </a:xfrm>
          <a:prstGeom prst="ellipse">
            <a:avLst/>
          </a:prstGeom>
          <a:solidFill>
            <a:schemeClr val="tx1"/>
          </a:solidFill>
          <a:ln w="12700">
            <a:solidFill>
              <a:schemeClr val="tx1"/>
            </a:solidFill>
            <a:prstDash val="solid"/>
          </a:ln>
        </p:spPr>
      </p:sp>
      <p:pic>
        <p:nvPicPr>
          <p:cNvPr id="11" name="AI icon" descr="AI">    </p:cNvPr>
          <p:cNvPicPr>
            <a:picLocks noChangeAspect="1"/>
          </p:cNvPicPr>
          <p:nvPr/>
        </p:nvPicPr>
        <p:blipFill>
          <a:blip r:embed="rId2"/>
          <a:stretch>
            <a:fillRect/>
          </a:stretch>
        </p:blipFill>
        <p:spPr>
          <a:xfrm>
            <a:off x="943661" y="4144061"/>
            <a:ext cx="307238" cy="307238"/>
          </a:xfrm>
          <a:prstGeom prst="rect">
            <a:avLst/>
          </a:prstGeom>
        </p:spPr>
      </p:pic>
      <p:sp>
        <p:nvSpPr>
          <p:cNvPr id="12" name="Text 8"/>
          <p:cNvSpPr txBox="1"/>
          <p:nvPr/>
        </p:nvSpPr>
        <p:spPr>
          <a:xfrm>
            <a:off x="1554480" y="3977640"/>
            <a:ext cx="3108960" cy="365760"/>
          </a:xfrm>
          <a:prstGeom prst="rect">
            <a:avLst/>
          </a:prstGeom>
          <a:noFill/>
          <a:ln/>
        </p:spPr>
        <p:txBody>
          <a:bodyPr wrap="square" lIns="0" tIns="0" rIns="0" bIns="0" rtlCol="0" anchor="t"/>
          <a:lstStyle/>
          <a:p>
            <a:pPr indent="0" marL="0">
              <a:buNone/>
            </a:pPr>
            <a:r>
              <a:rPr lang="en-US" sz="2000" b="1" dirty="0">
                <a:solidFill>
                  <a:schemeClr val="bg1"/>
                </a:solidFill>
              </a:rPr>
              <a:t>AI situation brief</a:t>
            </a:r>
            <a:endParaRPr lang="en-US" sz="2000" dirty="0"/>
          </a:p>
        </p:txBody>
      </p:sp>
      <p:sp>
        <p:nvSpPr>
          <p:cNvPr id="13" name="Text 9"/>
          <p:cNvSpPr txBox="1"/>
          <p:nvPr/>
        </p:nvSpPr>
        <p:spPr>
          <a:xfrm>
            <a:off x="1554480" y="4389120"/>
            <a:ext cx="3108960" cy="1371600"/>
          </a:xfrm>
          <a:prstGeom prst="rect">
            <a:avLst/>
          </a:prstGeom>
          <a:noFill/>
          <a:ln/>
        </p:spPr>
        <p:txBody>
          <a:bodyPr wrap="square" lIns="0" tIns="0" rIns="0" bIns="0" rtlCol="0" anchor="t"/>
          <a:lstStyle/>
          <a:p>
            <a:pPr indent="0" marL="0">
              <a:buNone/>
            </a:pPr>
            <a:r>
              <a:rPr lang="en-US" sz="1400" dirty="0">
                <a:solidFill>
                  <a:schemeClr val="bg1"/>
                </a:solidFill>
              </a:rPr>
              <a:t>One per city, rotated under a shared daily budget. It reads the score and explains it in plain language.</a:t>
            </a:r>
            <a:endParaRPr lang="en-US" sz="1400" dirty="0"/>
          </a:p>
        </p:txBody>
      </p:sp>
      <p:sp>
        <p:nvSpPr>
          <p:cNvPr id="14" name="Guardrail 1"/>
          <p:cNvSpPr/>
          <p:nvPr/>
        </p:nvSpPr>
        <p:spPr>
          <a:xfrm>
            <a:off x="5166360" y="1417320"/>
            <a:ext cx="3108960" cy="1417320"/>
          </a:xfrm>
          <a:prstGeom prst="roundRect">
            <a:avLst>
              <a:gd name="adj" fmla="val 7742"/>
            </a:avLst>
          </a:prstGeom>
          <a:solidFill>
            <a:schemeClr val="bg2"/>
          </a:solidFill>
          <a:ln w="12700">
            <a:solidFill>
              <a:schemeClr val="bg2"/>
            </a:solidFill>
            <a:prstDash val="solid"/>
          </a:ln>
        </p:spPr>
      </p:sp>
      <p:sp>
        <p:nvSpPr>
          <p:cNvPr id="15" name="Guardrail 1 badge"/>
          <p:cNvSpPr/>
          <p:nvPr/>
        </p:nvSpPr>
        <p:spPr>
          <a:xfrm>
            <a:off x="5349240" y="1600200"/>
            <a:ext cx="548640" cy="548640"/>
          </a:xfrm>
          <a:prstGeom prst="ellipse">
            <a:avLst/>
          </a:prstGeom>
          <a:solidFill>
            <a:schemeClr val="accent1"/>
          </a:solidFill>
          <a:ln w="12700">
            <a:solidFill>
              <a:schemeClr val="accent1"/>
            </a:solidFill>
            <a:prstDash val="solid"/>
          </a:ln>
        </p:spPr>
      </p:sp>
      <p:pic>
        <p:nvPicPr>
          <p:cNvPr id="16" name="Guardrail 1 icon" descr="Guardrail 1">    </p:cNvPr>
          <p:cNvPicPr>
            <a:picLocks noChangeAspect="1"/>
          </p:cNvPicPr>
          <p:nvPr/>
        </p:nvPicPr>
        <p:blipFill>
          <a:blip r:embed="rId3"/>
          <a:stretch>
            <a:fillRect/>
          </a:stretch>
        </p:blipFill>
        <p:spPr>
          <a:xfrm>
            <a:off x="5491886" y="1742846"/>
            <a:ext cx="263347" cy="263347"/>
          </a:xfrm>
          <a:prstGeom prst="rect">
            <a:avLst/>
          </a:prstGeom>
        </p:spPr>
      </p:pic>
      <p:sp>
        <p:nvSpPr>
          <p:cNvPr id="17" name="Text 12"/>
          <p:cNvSpPr txBox="1"/>
          <p:nvPr/>
        </p:nvSpPr>
        <p:spPr>
          <a:xfrm>
            <a:off x="6035040" y="161848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Structured output</a:t>
            </a:r>
            <a:endParaRPr lang="en-US" sz="1600" dirty="0"/>
          </a:p>
        </p:txBody>
      </p:sp>
      <p:sp>
        <p:nvSpPr>
          <p:cNvPr id="18" name="Text 13"/>
          <p:cNvSpPr txBox="1"/>
          <p:nvPr/>
        </p:nvSpPr>
        <p:spPr>
          <a:xfrm>
            <a:off x="5349240" y="2240280"/>
            <a:ext cx="2743200" cy="548640"/>
          </a:xfrm>
          <a:prstGeom prst="rect">
            <a:avLst/>
          </a:prstGeom>
          <a:noFill/>
          <a:ln/>
        </p:spPr>
        <p:txBody>
          <a:bodyPr wrap="square" lIns="0" tIns="0" rIns="0" bIns="0" rtlCol="0" anchor="t"/>
          <a:lstStyle/>
          <a:p>
            <a:pPr indent="0" marL="0">
              <a:buNone/>
            </a:pPr>
            <a:r>
              <a:rPr lang="en-US" sz="1300" dirty="0">
                <a:solidFill>
                  <a:schemeClr val="tx1"/>
                </a:solidFill>
              </a:rPr>
              <a:t>Validated JSON, not a free-form chatbot.</a:t>
            </a:r>
            <a:endParaRPr lang="en-US" sz="1300" dirty="0"/>
          </a:p>
        </p:txBody>
      </p:sp>
      <p:sp>
        <p:nvSpPr>
          <p:cNvPr id="19" name="Guardrail 2"/>
          <p:cNvSpPr/>
          <p:nvPr/>
        </p:nvSpPr>
        <p:spPr>
          <a:xfrm>
            <a:off x="8503920" y="1417320"/>
            <a:ext cx="3108960" cy="1417320"/>
          </a:xfrm>
          <a:prstGeom prst="roundRect">
            <a:avLst>
              <a:gd name="adj" fmla="val 7742"/>
            </a:avLst>
          </a:prstGeom>
          <a:solidFill>
            <a:schemeClr val="bg2"/>
          </a:solidFill>
          <a:ln w="12700">
            <a:solidFill>
              <a:schemeClr val="bg2"/>
            </a:solidFill>
            <a:prstDash val="solid"/>
          </a:ln>
        </p:spPr>
      </p:sp>
      <p:sp>
        <p:nvSpPr>
          <p:cNvPr id="20" name="Guardrail 2 badge"/>
          <p:cNvSpPr/>
          <p:nvPr/>
        </p:nvSpPr>
        <p:spPr>
          <a:xfrm>
            <a:off x="8686800" y="1600200"/>
            <a:ext cx="548640" cy="548640"/>
          </a:xfrm>
          <a:prstGeom prst="ellipse">
            <a:avLst/>
          </a:prstGeom>
          <a:solidFill>
            <a:schemeClr val="accent1"/>
          </a:solidFill>
          <a:ln w="12700">
            <a:solidFill>
              <a:schemeClr val="accent1"/>
            </a:solidFill>
            <a:prstDash val="solid"/>
          </a:ln>
        </p:spPr>
      </p:sp>
      <p:pic>
        <p:nvPicPr>
          <p:cNvPr id="21" name="Guardrail 2 icon" descr="Guardrail 2">    </p:cNvPr>
          <p:cNvPicPr>
            <a:picLocks noChangeAspect="1"/>
          </p:cNvPicPr>
          <p:nvPr/>
        </p:nvPicPr>
        <p:blipFill>
          <a:blip r:embed="rId4"/>
          <a:stretch>
            <a:fillRect/>
          </a:stretch>
        </p:blipFill>
        <p:spPr>
          <a:xfrm>
            <a:off x="8829446" y="1742846"/>
            <a:ext cx="263347" cy="263347"/>
          </a:xfrm>
          <a:prstGeom prst="rect">
            <a:avLst/>
          </a:prstGeom>
        </p:spPr>
      </p:pic>
      <p:sp>
        <p:nvSpPr>
          <p:cNvPr id="22" name="Text 16"/>
          <p:cNvSpPr txBox="1"/>
          <p:nvPr/>
        </p:nvSpPr>
        <p:spPr>
          <a:xfrm>
            <a:off x="9372600" y="161848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Honest confidence</a:t>
            </a:r>
            <a:endParaRPr lang="en-US" sz="1600" dirty="0"/>
          </a:p>
        </p:txBody>
      </p:sp>
      <p:sp>
        <p:nvSpPr>
          <p:cNvPr id="23" name="Text 17"/>
          <p:cNvSpPr txBox="1"/>
          <p:nvPr/>
        </p:nvSpPr>
        <p:spPr>
          <a:xfrm>
            <a:off x="8686800" y="2240280"/>
            <a:ext cx="2743200" cy="548640"/>
          </a:xfrm>
          <a:prstGeom prst="rect">
            <a:avLst/>
          </a:prstGeom>
          <a:noFill/>
          <a:ln/>
        </p:spPr>
        <p:txBody>
          <a:bodyPr wrap="square" lIns="0" tIns="0" rIns="0" bIns="0" rtlCol="0" anchor="t"/>
          <a:lstStyle/>
          <a:p>
            <a:pPr indent="0" marL="0">
              <a:buNone/>
            </a:pPr>
            <a:r>
              <a:rPr lang="en-US" sz="1300" dirty="0">
                <a:solidFill>
                  <a:schemeClr val="tx1"/>
                </a:solidFill>
              </a:rPr>
              <a:t>Confidence and limitations are shown.</a:t>
            </a:r>
            <a:endParaRPr lang="en-US" sz="1300" dirty="0"/>
          </a:p>
        </p:txBody>
      </p:sp>
      <p:sp>
        <p:nvSpPr>
          <p:cNvPr id="24" name="Guardrail 3"/>
          <p:cNvSpPr/>
          <p:nvPr/>
        </p:nvSpPr>
        <p:spPr>
          <a:xfrm>
            <a:off x="5166360" y="2926080"/>
            <a:ext cx="3108960" cy="1417320"/>
          </a:xfrm>
          <a:prstGeom prst="roundRect">
            <a:avLst>
              <a:gd name="adj" fmla="val 7742"/>
            </a:avLst>
          </a:prstGeom>
          <a:solidFill>
            <a:schemeClr val="bg2"/>
          </a:solidFill>
          <a:ln w="12700">
            <a:solidFill>
              <a:schemeClr val="bg2"/>
            </a:solidFill>
            <a:prstDash val="solid"/>
          </a:ln>
        </p:spPr>
      </p:sp>
      <p:sp>
        <p:nvSpPr>
          <p:cNvPr id="25" name="Guardrail 3 badge"/>
          <p:cNvSpPr/>
          <p:nvPr/>
        </p:nvSpPr>
        <p:spPr>
          <a:xfrm>
            <a:off x="5349240" y="3108960"/>
            <a:ext cx="548640" cy="548640"/>
          </a:xfrm>
          <a:prstGeom prst="ellipse">
            <a:avLst/>
          </a:prstGeom>
          <a:solidFill>
            <a:schemeClr val="accent1"/>
          </a:solidFill>
          <a:ln w="12700">
            <a:solidFill>
              <a:schemeClr val="accent1"/>
            </a:solidFill>
            <a:prstDash val="solid"/>
          </a:ln>
        </p:spPr>
      </p:sp>
      <p:pic>
        <p:nvPicPr>
          <p:cNvPr id="26" name="Guardrail 3 icon" descr="Guardrail 3">    </p:cNvPr>
          <p:cNvPicPr>
            <a:picLocks noChangeAspect="1"/>
          </p:cNvPicPr>
          <p:nvPr/>
        </p:nvPicPr>
        <p:blipFill>
          <a:blip r:embed="rId5"/>
          <a:stretch>
            <a:fillRect/>
          </a:stretch>
        </p:blipFill>
        <p:spPr>
          <a:xfrm>
            <a:off x="5491886" y="3251606"/>
            <a:ext cx="263347" cy="263347"/>
          </a:xfrm>
          <a:prstGeom prst="rect">
            <a:avLst/>
          </a:prstGeom>
        </p:spPr>
      </p:pic>
      <p:sp>
        <p:nvSpPr>
          <p:cNvPr id="27" name="Text 20"/>
          <p:cNvSpPr txBox="1"/>
          <p:nvPr/>
        </p:nvSpPr>
        <p:spPr>
          <a:xfrm>
            <a:off x="6035040" y="312724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No medical claims</a:t>
            </a:r>
            <a:endParaRPr lang="en-US" sz="1600" dirty="0"/>
          </a:p>
        </p:txBody>
      </p:sp>
      <p:sp>
        <p:nvSpPr>
          <p:cNvPr id="28" name="Text 21"/>
          <p:cNvSpPr txBox="1"/>
          <p:nvPr/>
        </p:nvSpPr>
        <p:spPr>
          <a:xfrm>
            <a:off x="5349240" y="3749040"/>
            <a:ext cx="2743200" cy="548640"/>
          </a:xfrm>
          <a:prstGeom prst="rect">
            <a:avLst/>
          </a:prstGeom>
          <a:noFill/>
          <a:ln/>
        </p:spPr>
        <p:txBody>
          <a:bodyPr wrap="square" lIns="0" tIns="0" rIns="0" bIns="0" rtlCol="0" anchor="t"/>
          <a:lstStyle/>
          <a:p>
            <a:pPr indent="0" marL="0">
              <a:buNone/>
            </a:pPr>
            <a:r>
              <a:rPr lang="en-US" sz="1300" dirty="0">
                <a:solidFill>
                  <a:schemeClr val="tx1"/>
                </a:solidFill>
              </a:rPr>
              <a:t>No diagnosis and no official emergency statements.</a:t>
            </a:r>
            <a:endParaRPr lang="en-US" sz="1300" dirty="0"/>
          </a:p>
        </p:txBody>
      </p:sp>
      <p:sp>
        <p:nvSpPr>
          <p:cNvPr id="29" name="Guardrail 4"/>
          <p:cNvSpPr/>
          <p:nvPr/>
        </p:nvSpPr>
        <p:spPr>
          <a:xfrm>
            <a:off x="8503920" y="2926080"/>
            <a:ext cx="3108960" cy="1417320"/>
          </a:xfrm>
          <a:prstGeom prst="roundRect">
            <a:avLst>
              <a:gd name="adj" fmla="val 7742"/>
            </a:avLst>
          </a:prstGeom>
          <a:solidFill>
            <a:schemeClr val="bg2"/>
          </a:solidFill>
          <a:ln w="12700">
            <a:solidFill>
              <a:schemeClr val="bg2"/>
            </a:solidFill>
            <a:prstDash val="solid"/>
          </a:ln>
        </p:spPr>
      </p:sp>
      <p:sp>
        <p:nvSpPr>
          <p:cNvPr id="30" name="Guardrail 4 badge"/>
          <p:cNvSpPr/>
          <p:nvPr/>
        </p:nvSpPr>
        <p:spPr>
          <a:xfrm>
            <a:off x="8686800" y="3108960"/>
            <a:ext cx="548640" cy="548640"/>
          </a:xfrm>
          <a:prstGeom prst="ellipse">
            <a:avLst/>
          </a:prstGeom>
          <a:solidFill>
            <a:schemeClr val="accent1"/>
          </a:solidFill>
          <a:ln w="12700">
            <a:solidFill>
              <a:schemeClr val="accent1"/>
            </a:solidFill>
            <a:prstDash val="solid"/>
          </a:ln>
        </p:spPr>
      </p:sp>
      <p:pic>
        <p:nvPicPr>
          <p:cNvPr id="31" name="Guardrail 4 icon" descr="Guardrail 4">    </p:cNvPr>
          <p:cNvPicPr>
            <a:picLocks noChangeAspect="1"/>
          </p:cNvPicPr>
          <p:nvPr/>
        </p:nvPicPr>
        <p:blipFill>
          <a:blip r:embed="rId6"/>
          <a:stretch>
            <a:fillRect/>
          </a:stretch>
        </p:blipFill>
        <p:spPr>
          <a:xfrm>
            <a:off x="8829446" y="3251606"/>
            <a:ext cx="263347" cy="263347"/>
          </a:xfrm>
          <a:prstGeom prst="rect">
            <a:avLst/>
          </a:prstGeom>
        </p:spPr>
      </p:pic>
      <p:sp>
        <p:nvSpPr>
          <p:cNvPr id="32" name="Text 24"/>
          <p:cNvSpPr txBox="1"/>
          <p:nvPr/>
        </p:nvSpPr>
        <p:spPr>
          <a:xfrm>
            <a:off x="9372600" y="312724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Graceful degradation</a:t>
            </a:r>
            <a:endParaRPr lang="en-US" sz="1600" dirty="0"/>
          </a:p>
        </p:txBody>
      </p:sp>
      <p:sp>
        <p:nvSpPr>
          <p:cNvPr id="33" name="Text 25"/>
          <p:cNvSpPr txBox="1"/>
          <p:nvPr/>
        </p:nvSpPr>
        <p:spPr>
          <a:xfrm>
            <a:off x="8686800" y="3749040"/>
            <a:ext cx="2743200" cy="548640"/>
          </a:xfrm>
          <a:prstGeom prst="rect">
            <a:avLst/>
          </a:prstGeom>
          <a:noFill/>
          <a:ln/>
        </p:spPr>
        <p:txBody>
          <a:bodyPr wrap="square" lIns="0" tIns="0" rIns="0" bIns="0" rtlCol="0" anchor="t"/>
          <a:lstStyle/>
          <a:p>
            <a:pPr indent="0" marL="0">
              <a:buNone/>
            </a:pPr>
            <a:r>
              <a:rPr lang="en-US" sz="1300" dirty="0">
                <a:solidFill>
                  <a:schemeClr val="tx1"/>
                </a:solidFill>
              </a:rPr>
              <a:t>If the AI is down, the platform keeps working. Tested.</a:t>
            </a:r>
            <a:endParaRPr lang="en-US" sz="1300" dirty="0"/>
          </a:p>
        </p:txBody>
      </p:sp>
      <p:sp>
        <p:nvSpPr>
          <p:cNvPr id="34" name="Guardrail 5"/>
          <p:cNvSpPr/>
          <p:nvPr/>
        </p:nvSpPr>
        <p:spPr>
          <a:xfrm>
            <a:off x="5166360" y="4434840"/>
            <a:ext cx="3108960" cy="1417320"/>
          </a:xfrm>
          <a:prstGeom prst="roundRect">
            <a:avLst>
              <a:gd name="adj" fmla="val 7742"/>
            </a:avLst>
          </a:prstGeom>
          <a:solidFill>
            <a:schemeClr val="bg2"/>
          </a:solidFill>
          <a:ln w="12700">
            <a:solidFill>
              <a:schemeClr val="bg2"/>
            </a:solidFill>
            <a:prstDash val="solid"/>
          </a:ln>
        </p:spPr>
      </p:sp>
      <p:sp>
        <p:nvSpPr>
          <p:cNvPr id="35" name="Guardrail 5 badge"/>
          <p:cNvSpPr/>
          <p:nvPr/>
        </p:nvSpPr>
        <p:spPr>
          <a:xfrm>
            <a:off x="5349240" y="4617720"/>
            <a:ext cx="548640" cy="548640"/>
          </a:xfrm>
          <a:prstGeom prst="ellipse">
            <a:avLst/>
          </a:prstGeom>
          <a:solidFill>
            <a:schemeClr val="accent1"/>
          </a:solidFill>
          <a:ln w="12700">
            <a:solidFill>
              <a:schemeClr val="accent1"/>
            </a:solidFill>
            <a:prstDash val="solid"/>
          </a:ln>
        </p:spPr>
      </p:sp>
      <p:pic>
        <p:nvPicPr>
          <p:cNvPr id="36" name="Guardrail 5 icon" descr="Guardrail 5">    </p:cNvPr>
          <p:cNvPicPr>
            <a:picLocks noChangeAspect="1"/>
          </p:cNvPicPr>
          <p:nvPr/>
        </p:nvPicPr>
        <p:blipFill>
          <a:blip r:embed="rId7"/>
          <a:stretch>
            <a:fillRect/>
          </a:stretch>
        </p:blipFill>
        <p:spPr>
          <a:xfrm>
            <a:off x="5491886" y="4760366"/>
            <a:ext cx="263347" cy="263347"/>
          </a:xfrm>
          <a:prstGeom prst="rect">
            <a:avLst/>
          </a:prstGeom>
        </p:spPr>
      </p:pic>
      <p:sp>
        <p:nvSpPr>
          <p:cNvPr id="37" name="Text 28"/>
          <p:cNvSpPr txBox="1"/>
          <p:nvPr/>
        </p:nvSpPr>
        <p:spPr>
          <a:xfrm>
            <a:off x="6035040" y="463600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Budget and cooldown</a:t>
            </a:r>
            <a:endParaRPr lang="en-US" sz="1600" dirty="0"/>
          </a:p>
        </p:txBody>
      </p:sp>
      <p:sp>
        <p:nvSpPr>
          <p:cNvPr id="38" name="Text 29"/>
          <p:cNvSpPr txBox="1"/>
          <p:nvPr/>
        </p:nvSpPr>
        <p:spPr>
          <a:xfrm>
            <a:off x="5349240" y="5257800"/>
            <a:ext cx="2743200" cy="548640"/>
          </a:xfrm>
          <a:prstGeom prst="rect">
            <a:avLst/>
          </a:prstGeom>
          <a:noFill/>
          <a:ln/>
        </p:spPr>
        <p:txBody>
          <a:bodyPr wrap="square" lIns="0" tIns="0" rIns="0" bIns="0" rtlCol="0" anchor="t"/>
          <a:lstStyle/>
          <a:p>
            <a:pPr indent="0" marL="0">
              <a:buNone/>
            </a:pPr>
            <a:r>
              <a:rPr lang="en-US" sz="1300" dirty="0">
                <a:solidFill>
                  <a:schemeClr val="tx1"/>
                </a:solidFill>
              </a:rPr>
              <a:t>Daily ceiling and cooldown enforced server-side.</a:t>
            </a:r>
            <a:endParaRPr lang="en-US" sz="1300" dirty="0"/>
          </a:p>
        </p:txBody>
      </p:sp>
      <p:sp>
        <p:nvSpPr>
          <p:cNvPr id="39" name="Guardrail 6"/>
          <p:cNvSpPr/>
          <p:nvPr/>
        </p:nvSpPr>
        <p:spPr>
          <a:xfrm>
            <a:off x="8503920" y="4434840"/>
            <a:ext cx="3108960" cy="1417320"/>
          </a:xfrm>
          <a:prstGeom prst="roundRect">
            <a:avLst>
              <a:gd name="adj" fmla="val 7742"/>
            </a:avLst>
          </a:prstGeom>
          <a:solidFill>
            <a:schemeClr val="bg2"/>
          </a:solidFill>
          <a:ln w="12700">
            <a:solidFill>
              <a:schemeClr val="bg2"/>
            </a:solidFill>
            <a:prstDash val="solid"/>
          </a:ln>
        </p:spPr>
      </p:sp>
      <p:sp>
        <p:nvSpPr>
          <p:cNvPr id="40" name="Guardrail 6 badge"/>
          <p:cNvSpPr/>
          <p:nvPr/>
        </p:nvSpPr>
        <p:spPr>
          <a:xfrm>
            <a:off x="8686800" y="4617720"/>
            <a:ext cx="548640" cy="548640"/>
          </a:xfrm>
          <a:prstGeom prst="ellipse">
            <a:avLst/>
          </a:prstGeom>
          <a:solidFill>
            <a:schemeClr val="accent1"/>
          </a:solidFill>
          <a:ln w="12700">
            <a:solidFill>
              <a:schemeClr val="accent1"/>
            </a:solidFill>
            <a:prstDash val="solid"/>
          </a:ln>
        </p:spPr>
      </p:sp>
      <p:pic>
        <p:nvPicPr>
          <p:cNvPr id="41" name="Guardrail 6 icon" descr="Guardrail 6">    </p:cNvPr>
          <p:cNvPicPr>
            <a:picLocks noChangeAspect="1"/>
          </p:cNvPicPr>
          <p:nvPr/>
        </p:nvPicPr>
        <p:blipFill>
          <a:blip r:embed="rId8"/>
          <a:stretch>
            <a:fillRect/>
          </a:stretch>
        </p:blipFill>
        <p:spPr>
          <a:xfrm>
            <a:off x="8829446" y="4760366"/>
            <a:ext cx="263347" cy="263347"/>
          </a:xfrm>
          <a:prstGeom prst="rect">
            <a:avLst/>
          </a:prstGeom>
        </p:spPr>
      </p:pic>
      <p:sp>
        <p:nvSpPr>
          <p:cNvPr id="42" name="Text 32"/>
          <p:cNvSpPr txBox="1"/>
          <p:nvPr/>
        </p:nvSpPr>
        <p:spPr>
          <a:xfrm>
            <a:off x="9372600" y="4636008"/>
            <a:ext cx="2103120" cy="502920"/>
          </a:xfrm>
          <a:prstGeom prst="rect">
            <a:avLst/>
          </a:prstGeom>
          <a:noFill/>
          <a:ln/>
        </p:spPr>
        <p:txBody>
          <a:bodyPr wrap="square" lIns="0" tIns="0" rIns="0" bIns="0" rtlCol="0" anchor="ctr"/>
          <a:lstStyle/>
          <a:p>
            <a:pPr indent="0" marL="0">
              <a:buNone/>
            </a:pPr>
            <a:r>
              <a:rPr lang="en-US" sz="1600" b="1" dirty="0">
                <a:solidFill>
                  <a:schemeClr val="tx1"/>
                </a:solidFill>
              </a:rPr>
              <a:t>Keys stay secret</a:t>
            </a:r>
            <a:endParaRPr lang="en-US" sz="1600" dirty="0"/>
          </a:p>
        </p:txBody>
      </p:sp>
      <p:sp>
        <p:nvSpPr>
          <p:cNvPr id="43" name="Text 33"/>
          <p:cNvSpPr txBox="1"/>
          <p:nvPr/>
        </p:nvSpPr>
        <p:spPr>
          <a:xfrm>
            <a:off x="8686800" y="5257800"/>
            <a:ext cx="2743200" cy="548640"/>
          </a:xfrm>
          <a:prstGeom prst="rect">
            <a:avLst/>
          </a:prstGeom>
          <a:noFill/>
          <a:ln/>
        </p:spPr>
        <p:txBody>
          <a:bodyPr wrap="square" lIns="0" tIns="0" rIns="0" bIns="0" rtlCol="0" anchor="t"/>
          <a:lstStyle/>
          <a:p>
            <a:pPr indent="0" marL="0">
              <a:buNone/>
            </a:pPr>
            <a:r>
              <a:rPr lang="en-US" sz="1300" dirty="0">
                <a:solidFill>
                  <a:schemeClr val="tx1"/>
                </a:solidFill>
              </a:rPr>
              <a:t>Encrypted at rest; the provider is configurable.</a:t>
            </a:r>
            <a:endParaRPr lang="en-US" sz="13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 production-grade, open architecture</a:t>
            </a:r>
            <a:endParaRPr lang="en-US" sz="3600" dirty="0"/>
          </a:p>
        </p:txBody>
      </p:sp>
      <p:sp>
        <p:nvSpPr>
          <p:cNvPr id="3" name="Frontend box"/>
          <p:cNvSpPr/>
          <p:nvPr/>
        </p:nvSpPr>
        <p:spPr>
          <a:xfrm>
            <a:off x="548640" y="1417320"/>
            <a:ext cx="2377440" cy="3246120"/>
          </a:xfrm>
          <a:prstGeom prst="roundRect">
            <a:avLst>
              <a:gd name="adj" fmla="val 4615"/>
            </a:avLst>
          </a:prstGeom>
          <a:solidFill>
            <a:schemeClr val="bg2"/>
          </a:solidFill>
          <a:ln w="12700">
            <a:solidFill>
              <a:schemeClr val="bg2"/>
            </a:solidFill>
            <a:prstDash val="solid"/>
          </a:ln>
        </p:spPr>
      </p:sp>
      <p:sp>
        <p:nvSpPr>
          <p:cNvPr id="4" name="Text 2"/>
          <p:cNvSpPr txBox="1"/>
          <p:nvPr/>
        </p:nvSpPr>
        <p:spPr>
          <a:xfrm>
            <a:off x="777240" y="1554480"/>
            <a:ext cx="1920240" cy="365760"/>
          </a:xfrm>
          <a:prstGeom prst="rect">
            <a:avLst/>
          </a:prstGeom>
          <a:noFill/>
          <a:ln/>
        </p:spPr>
        <p:txBody>
          <a:bodyPr wrap="square" lIns="0" tIns="0" rIns="0" bIns="0" rtlCol="0" anchor="t"/>
          <a:lstStyle/>
          <a:p>
            <a:pPr indent="0" marL="0">
              <a:buNone/>
            </a:pPr>
            <a:r>
              <a:rPr lang="en-US" sz="1800" b="1" dirty="0">
                <a:solidFill>
                  <a:schemeClr val="accent1"/>
                </a:solidFill>
              </a:rPr>
              <a:t>Frontend</a:t>
            </a:r>
            <a:endParaRPr lang="en-US" sz="1800" dirty="0"/>
          </a:p>
        </p:txBody>
      </p:sp>
      <p:sp>
        <p:nvSpPr>
          <p:cNvPr id="5" name="Text 3"/>
          <p:cNvSpPr txBox="1"/>
          <p:nvPr/>
        </p:nvSpPr>
        <p:spPr>
          <a:xfrm>
            <a:off x="777240" y="2057400"/>
            <a:ext cx="1920240" cy="329184"/>
          </a:xfrm>
          <a:prstGeom prst="rect">
            <a:avLst/>
          </a:prstGeom>
          <a:noFill/>
          <a:ln/>
        </p:spPr>
        <p:txBody>
          <a:bodyPr wrap="square" lIns="0" tIns="0" rIns="0" bIns="0" rtlCol="0" anchor="t"/>
          <a:lstStyle/>
          <a:p>
            <a:pPr indent="0" marL="0">
              <a:buNone/>
            </a:pPr>
            <a:r>
              <a:rPr lang="en-US" sz="1400" dirty="0">
                <a:solidFill>
                  <a:schemeClr val="tx1"/>
                </a:solidFill>
              </a:rPr>
              <a:t>Vue 3 + TypeScript</a:t>
            </a:r>
            <a:endParaRPr lang="en-US" sz="1400" dirty="0"/>
          </a:p>
        </p:txBody>
      </p:sp>
      <p:sp>
        <p:nvSpPr>
          <p:cNvPr id="6" name="Text 4"/>
          <p:cNvSpPr txBox="1"/>
          <p:nvPr/>
        </p:nvSpPr>
        <p:spPr>
          <a:xfrm>
            <a:off x="777240" y="2478024"/>
            <a:ext cx="1920240" cy="329184"/>
          </a:xfrm>
          <a:prstGeom prst="rect">
            <a:avLst/>
          </a:prstGeom>
          <a:noFill/>
          <a:ln/>
        </p:spPr>
        <p:txBody>
          <a:bodyPr wrap="square" lIns="0" tIns="0" rIns="0" bIns="0" rtlCol="0" anchor="t"/>
          <a:lstStyle/>
          <a:p>
            <a:pPr indent="0" marL="0">
              <a:buNone/>
            </a:pPr>
            <a:r>
              <a:rPr lang="en-US" sz="1400" dirty="0">
                <a:solidFill>
                  <a:schemeClr val="tx1"/>
                </a:solidFill>
              </a:rPr>
              <a:t>Vuetify</a:t>
            </a:r>
            <a:endParaRPr lang="en-US" sz="1400" dirty="0"/>
          </a:p>
        </p:txBody>
      </p:sp>
      <p:sp>
        <p:nvSpPr>
          <p:cNvPr id="7" name="Text 5"/>
          <p:cNvSpPr txBox="1"/>
          <p:nvPr/>
        </p:nvSpPr>
        <p:spPr>
          <a:xfrm>
            <a:off x="777240" y="2898648"/>
            <a:ext cx="1920240" cy="329184"/>
          </a:xfrm>
          <a:prstGeom prst="rect">
            <a:avLst/>
          </a:prstGeom>
          <a:noFill/>
          <a:ln/>
        </p:spPr>
        <p:txBody>
          <a:bodyPr wrap="square" lIns="0" tIns="0" rIns="0" bIns="0" rtlCol="0" anchor="t"/>
          <a:lstStyle/>
          <a:p>
            <a:pPr indent="0" marL="0">
              <a:buNone/>
            </a:pPr>
            <a:r>
              <a:rPr lang="en-US" sz="1400" dirty="0">
                <a:solidFill>
                  <a:schemeClr val="tx1"/>
                </a:solidFill>
              </a:rPr>
              <a:t>Pinia</a:t>
            </a:r>
            <a:endParaRPr lang="en-US" sz="1400" dirty="0"/>
          </a:p>
        </p:txBody>
      </p:sp>
      <p:sp>
        <p:nvSpPr>
          <p:cNvPr id="8" name="Text 6"/>
          <p:cNvSpPr txBox="1"/>
          <p:nvPr/>
        </p:nvSpPr>
        <p:spPr>
          <a:xfrm>
            <a:off x="777240" y="3319272"/>
            <a:ext cx="1920240" cy="329184"/>
          </a:xfrm>
          <a:prstGeom prst="rect">
            <a:avLst/>
          </a:prstGeom>
          <a:noFill/>
          <a:ln/>
        </p:spPr>
        <p:txBody>
          <a:bodyPr wrap="square" lIns="0" tIns="0" rIns="0" bIns="0" rtlCol="0" anchor="t"/>
          <a:lstStyle/>
          <a:p>
            <a:pPr indent="0" marL="0">
              <a:buNone/>
            </a:pPr>
            <a:r>
              <a:rPr lang="en-US" sz="1400" dirty="0">
                <a:solidFill>
                  <a:schemeClr val="tx1"/>
                </a:solidFill>
              </a:rPr>
              <a:t>vue-i18n</a:t>
            </a:r>
            <a:endParaRPr lang="en-US" sz="1400" dirty="0"/>
          </a:p>
        </p:txBody>
      </p:sp>
      <p:sp>
        <p:nvSpPr>
          <p:cNvPr id="9" name="Text 7"/>
          <p:cNvSpPr txBox="1"/>
          <p:nvPr/>
        </p:nvSpPr>
        <p:spPr>
          <a:xfrm>
            <a:off x="777240" y="3739896"/>
            <a:ext cx="1920240" cy="329184"/>
          </a:xfrm>
          <a:prstGeom prst="rect">
            <a:avLst/>
          </a:prstGeom>
          <a:noFill/>
          <a:ln/>
        </p:spPr>
        <p:txBody>
          <a:bodyPr wrap="square" lIns="0" tIns="0" rIns="0" bIns="0" rtlCol="0" anchor="t"/>
          <a:lstStyle/>
          <a:p>
            <a:pPr indent="0" marL="0">
              <a:buNone/>
            </a:pPr>
            <a:r>
              <a:rPr lang="en-US" sz="1400" dirty="0">
                <a:solidFill>
                  <a:schemeClr val="tx1"/>
                </a:solidFill>
              </a:rPr>
              <a:t>ECharts</a:t>
            </a:r>
            <a:endParaRPr lang="en-US" sz="1400" dirty="0"/>
          </a:p>
        </p:txBody>
      </p:sp>
      <p:sp>
        <p:nvSpPr>
          <p:cNvPr id="10" name="Text 8"/>
          <p:cNvSpPr txBox="1"/>
          <p:nvPr/>
        </p:nvSpPr>
        <p:spPr>
          <a:xfrm>
            <a:off x="777240" y="4160520"/>
            <a:ext cx="1920240" cy="329184"/>
          </a:xfrm>
          <a:prstGeom prst="rect">
            <a:avLst/>
          </a:prstGeom>
          <a:noFill/>
          <a:ln/>
        </p:spPr>
        <p:txBody>
          <a:bodyPr wrap="square" lIns="0" tIns="0" rIns="0" bIns="0" rtlCol="0" anchor="t"/>
          <a:lstStyle/>
          <a:p>
            <a:pPr indent="0" marL="0">
              <a:buNone/>
            </a:pPr>
            <a:r>
              <a:rPr lang="en-US" sz="1400" dirty="0">
                <a:solidFill>
                  <a:schemeClr val="tx1"/>
                </a:solidFill>
              </a:rPr>
              <a:t>MapLibre GL</a:t>
            </a:r>
            <a:endParaRPr lang="en-US" sz="1400" dirty="0"/>
          </a:p>
        </p:txBody>
      </p:sp>
      <p:sp>
        <p:nvSpPr>
          <p:cNvPr id="11" name="Arrow FE-nginx"/>
          <p:cNvSpPr/>
          <p:nvPr/>
        </p:nvSpPr>
        <p:spPr>
          <a:xfrm>
            <a:off x="2990088" y="2834640"/>
            <a:ext cx="274320" cy="365760"/>
          </a:xfrm>
          <a:prstGeom prst="rightArrow">
            <a:avLst/>
          </a:prstGeom>
          <a:solidFill>
            <a:schemeClr val="tx2"/>
          </a:solidFill>
          <a:ln w="12700">
            <a:solidFill>
              <a:schemeClr val="tx2"/>
            </a:solidFill>
            <a:prstDash val="solid"/>
          </a:ln>
        </p:spPr>
      </p:sp>
      <p:sp>
        <p:nvSpPr>
          <p:cNvPr id="12" name="nginx box"/>
          <p:cNvSpPr/>
          <p:nvPr/>
        </p:nvSpPr>
        <p:spPr>
          <a:xfrm>
            <a:off x="3337560" y="1417320"/>
            <a:ext cx="1737360" cy="3246120"/>
          </a:xfrm>
          <a:prstGeom prst="roundRect">
            <a:avLst>
              <a:gd name="adj" fmla="val 6316"/>
            </a:avLst>
          </a:prstGeom>
          <a:solidFill>
            <a:schemeClr val="tx1"/>
          </a:solidFill>
          <a:ln w="12700">
            <a:solidFill>
              <a:schemeClr val="tx1"/>
            </a:solidFill>
            <a:prstDash val="solid"/>
          </a:ln>
        </p:spPr>
      </p:sp>
      <p:sp>
        <p:nvSpPr>
          <p:cNvPr id="13" name="Text 11"/>
          <p:cNvSpPr txBox="1"/>
          <p:nvPr/>
        </p:nvSpPr>
        <p:spPr>
          <a:xfrm>
            <a:off x="3474720" y="1554480"/>
            <a:ext cx="1463040" cy="365760"/>
          </a:xfrm>
          <a:prstGeom prst="rect">
            <a:avLst/>
          </a:prstGeom>
          <a:noFill/>
          <a:ln/>
        </p:spPr>
        <p:txBody>
          <a:bodyPr wrap="square" lIns="0" tIns="0" rIns="0" bIns="0" rtlCol="0" anchor="t"/>
          <a:lstStyle/>
          <a:p>
            <a:pPr algn="ctr" indent="0" marL="0">
              <a:buNone/>
            </a:pPr>
            <a:r>
              <a:rPr lang="en-US" sz="1800" b="1" dirty="0">
                <a:solidFill>
                  <a:schemeClr val="bg1"/>
                </a:solidFill>
              </a:rPr>
              <a:t>nginx</a:t>
            </a:r>
            <a:endParaRPr lang="en-US" sz="1800" dirty="0"/>
          </a:p>
        </p:txBody>
      </p:sp>
      <p:sp>
        <p:nvSpPr>
          <p:cNvPr id="14" name="Text 12"/>
          <p:cNvSpPr txBox="1"/>
          <p:nvPr/>
        </p:nvSpPr>
        <p:spPr>
          <a:xfrm>
            <a:off x="3474720" y="2148840"/>
            <a:ext cx="1463040" cy="2011680"/>
          </a:xfrm>
          <a:prstGeom prst="rect">
            <a:avLst/>
          </a:prstGeom>
          <a:noFill/>
          <a:ln/>
        </p:spPr>
        <p:txBody>
          <a:bodyPr wrap="square" lIns="0" tIns="0" rIns="0" bIns="0" rtlCol="0" anchor="t"/>
          <a:lstStyle/>
          <a:p>
            <a:pPr algn="ctr" indent="0" marL="0">
              <a:buNone/>
            </a:pPr>
            <a:r>
              <a:rPr lang="en-US" sz="1400" dirty="0">
                <a:solidFill>
                  <a:schemeClr val="bg2"/>
                </a:solidFill>
              </a:rPr>
              <a:t>Reverse proxy, single entry point, HTTP or HTTPS</a:t>
            </a:r>
            <a:endParaRPr lang="en-US" sz="1400" dirty="0"/>
          </a:p>
        </p:txBody>
      </p:sp>
      <p:sp>
        <p:nvSpPr>
          <p:cNvPr id="15" name="Arrow nginx-API"/>
          <p:cNvSpPr/>
          <p:nvPr/>
        </p:nvSpPr>
        <p:spPr>
          <a:xfrm>
            <a:off x="5138928" y="2834640"/>
            <a:ext cx="274320" cy="365760"/>
          </a:xfrm>
          <a:prstGeom prst="rightArrow">
            <a:avLst/>
          </a:prstGeom>
          <a:solidFill>
            <a:schemeClr val="tx2"/>
          </a:solidFill>
          <a:ln w="12700">
            <a:solidFill>
              <a:schemeClr val="tx2"/>
            </a:solidFill>
            <a:prstDash val="solid"/>
          </a:ln>
        </p:spPr>
      </p:sp>
      <p:sp>
        <p:nvSpPr>
          <p:cNvPr id="16" name="Backend box"/>
          <p:cNvSpPr/>
          <p:nvPr/>
        </p:nvSpPr>
        <p:spPr>
          <a:xfrm>
            <a:off x="5486400" y="1417320"/>
            <a:ext cx="3337560" cy="3246120"/>
          </a:xfrm>
          <a:prstGeom prst="roundRect">
            <a:avLst>
              <a:gd name="adj" fmla="val 3380"/>
            </a:avLst>
          </a:prstGeom>
          <a:solidFill>
            <a:schemeClr val="bg2"/>
          </a:solidFill>
          <a:ln w="12700">
            <a:solidFill>
              <a:schemeClr val="bg2"/>
            </a:solidFill>
            <a:prstDash val="solid"/>
          </a:ln>
        </p:spPr>
      </p:sp>
      <p:sp>
        <p:nvSpPr>
          <p:cNvPr id="17" name="Text 15"/>
          <p:cNvSpPr txBox="1"/>
          <p:nvPr/>
        </p:nvSpPr>
        <p:spPr>
          <a:xfrm>
            <a:off x="5715000" y="1554480"/>
            <a:ext cx="2926080" cy="365760"/>
          </a:xfrm>
          <a:prstGeom prst="rect">
            <a:avLst/>
          </a:prstGeom>
          <a:noFill/>
          <a:ln/>
        </p:spPr>
        <p:txBody>
          <a:bodyPr wrap="square" lIns="0" tIns="0" rIns="0" bIns="0" rtlCol="0" anchor="t"/>
          <a:lstStyle/>
          <a:p>
            <a:pPr indent="0" marL="0">
              <a:buNone/>
            </a:pPr>
            <a:r>
              <a:rPr lang="en-US" sz="1800" b="1" dirty="0">
                <a:solidFill>
                  <a:schemeClr val="accent1"/>
                </a:solidFill>
              </a:rPr>
              <a:t>FastAPI backend</a:t>
            </a:r>
            <a:endParaRPr lang="en-US" sz="1800" dirty="0"/>
          </a:p>
        </p:txBody>
      </p:sp>
      <p:sp>
        <p:nvSpPr>
          <p:cNvPr id="18" name="Text 16"/>
          <p:cNvSpPr txBox="1"/>
          <p:nvPr/>
        </p:nvSpPr>
        <p:spPr>
          <a:xfrm>
            <a:off x="5715000" y="2057400"/>
            <a:ext cx="2926080" cy="365760"/>
          </a:xfrm>
          <a:prstGeom prst="rect">
            <a:avLst/>
          </a:prstGeom>
          <a:noFill/>
          <a:ln/>
        </p:spPr>
        <p:txBody>
          <a:bodyPr wrap="square" lIns="0" tIns="0" rIns="0" bIns="0" rtlCol="0" anchor="t"/>
          <a:lstStyle/>
          <a:p>
            <a:pPr indent="0" marL="0">
              <a:buNone/>
            </a:pPr>
            <a:r>
              <a:rPr lang="en-US" sz="1400" dirty="0">
                <a:solidFill>
                  <a:schemeClr val="tx1"/>
                </a:solidFill>
              </a:rPr>
              <a:t>Auth: JWT + role-based access</a:t>
            </a:r>
            <a:endParaRPr lang="en-US" sz="1400" dirty="0"/>
          </a:p>
        </p:txBody>
      </p:sp>
      <p:sp>
        <p:nvSpPr>
          <p:cNvPr id="19" name="Text 17"/>
          <p:cNvSpPr txBox="1"/>
          <p:nvPr/>
        </p:nvSpPr>
        <p:spPr>
          <a:xfrm>
            <a:off x="5715000" y="2569464"/>
            <a:ext cx="2926080" cy="365760"/>
          </a:xfrm>
          <a:prstGeom prst="rect">
            <a:avLst/>
          </a:prstGeom>
          <a:noFill/>
          <a:ln/>
        </p:spPr>
        <p:txBody>
          <a:bodyPr wrap="square" lIns="0" tIns="0" rIns="0" bIns="0" rtlCol="0" anchor="t"/>
          <a:lstStyle/>
          <a:p>
            <a:pPr indent="0" marL="0">
              <a:buNone/>
            </a:pPr>
            <a:r>
              <a:rPr lang="en-US" sz="1400" dirty="0">
                <a:solidFill>
                  <a:schemeClr val="tx1"/>
                </a:solidFill>
              </a:rPr>
              <a:t>Risk engine</a:t>
            </a:r>
            <a:endParaRPr lang="en-US" sz="1400" dirty="0"/>
          </a:p>
        </p:txBody>
      </p:sp>
      <p:sp>
        <p:nvSpPr>
          <p:cNvPr id="20" name="Text 18"/>
          <p:cNvSpPr txBox="1"/>
          <p:nvPr/>
        </p:nvSpPr>
        <p:spPr>
          <a:xfrm>
            <a:off x="5715000" y="3081528"/>
            <a:ext cx="2926080" cy="365760"/>
          </a:xfrm>
          <a:prstGeom prst="rect">
            <a:avLst/>
          </a:prstGeom>
          <a:noFill/>
          <a:ln/>
        </p:spPr>
        <p:txBody>
          <a:bodyPr wrap="square" lIns="0" tIns="0" rIns="0" bIns="0" rtlCol="0" anchor="t"/>
          <a:lstStyle/>
          <a:p>
            <a:pPr indent="0" marL="0">
              <a:buNone/>
            </a:pPr>
            <a:r>
              <a:rPr lang="en-US" sz="1400" dirty="0">
                <a:solidFill>
                  <a:schemeClr val="tx1"/>
                </a:solidFill>
              </a:rPr>
              <a:t>Connector registry</a:t>
            </a:r>
            <a:endParaRPr lang="en-US" sz="1400" dirty="0"/>
          </a:p>
        </p:txBody>
      </p:sp>
      <p:sp>
        <p:nvSpPr>
          <p:cNvPr id="21" name="Text 19"/>
          <p:cNvSpPr txBox="1"/>
          <p:nvPr/>
        </p:nvSpPr>
        <p:spPr>
          <a:xfrm>
            <a:off x="5715000" y="3593592"/>
            <a:ext cx="2926080" cy="365760"/>
          </a:xfrm>
          <a:prstGeom prst="rect">
            <a:avLst/>
          </a:prstGeom>
          <a:noFill/>
          <a:ln/>
        </p:spPr>
        <p:txBody>
          <a:bodyPr wrap="square" lIns="0" tIns="0" rIns="0" bIns="0" rtlCol="0" anchor="t"/>
          <a:lstStyle/>
          <a:p>
            <a:pPr indent="0" marL="0">
              <a:buNone/>
            </a:pPr>
            <a:r>
              <a:rPr lang="en-US" sz="1400" dirty="0">
                <a:solidFill>
                  <a:schemeClr val="tx1"/>
                </a:solidFill>
              </a:rPr>
              <a:t>Scheduler (APScheduler)</a:t>
            </a:r>
            <a:endParaRPr lang="en-US" sz="1400" dirty="0"/>
          </a:p>
        </p:txBody>
      </p:sp>
      <p:sp>
        <p:nvSpPr>
          <p:cNvPr id="22" name="Text 20"/>
          <p:cNvSpPr txBox="1"/>
          <p:nvPr/>
        </p:nvSpPr>
        <p:spPr>
          <a:xfrm>
            <a:off x="5715000" y="4105656"/>
            <a:ext cx="2926080" cy="365760"/>
          </a:xfrm>
          <a:prstGeom prst="rect">
            <a:avLst/>
          </a:prstGeom>
          <a:noFill/>
          <a:ln/>
        </p:spPr>
        <p:txBody>
          <a:bodyPr wrap="square" lIns="0" tIns="0" rIns="0" bIns="0" rtlCol="0" anchor="t"/>
          <a:lstStyle/>
          <a:p>
            <a:pPr indent="0" marL="0">
              <a:buNone/>
            </a:pPr>
            <a:r>
              <a:rPr lang="en-US" sz="1400" dirty="0">
                <a:solidFill>
                  <a:schemeClr val="tx1"/>
                </a:solidFill>
              </a:rPr>
              <a:t>AI brief service</a:t>
            </a:r>
            <a:endParaRPr lang="en-US" sz="1400" dirty="0"/>
          </a:p>
        </p:txBody>
      </p:sp>
      <p:sp>
        <p:nvSpPr>
          <p:cNvPr id="23" name="Arrow API-data"/>
          <p:cNvSpPr/>
          <p:nvPr/>
        </p:nvSpPr>
        <p:spPr>
          <a:xfrm>
            <a:off x="8887968" y="2834640"/>
            <a:ext cx="274320" cy="365760"/>
          </a:xfrm>
          <a:prstGeom prst="rightArrow">
            <a:avLst/>
          </a:prstGeom>
          <a:solidFill>
            <a:schemeClr val="tx2"/>
          </a:solidFill>
          <a:ln w="12700">
            <a:solidFill>
              <a:schemeClr val="tx2"/>
            </a:solidFill>
            <a:prstDash val="solid"/>
          </a:ln>
        </p:spPr>
      </p:sp>
      <p:sp>
        <p:nvSpPr>
          <p:cNvPr id="24" name="Data box"/>
          <p:cNvSpPr/>
          <p:nvPr/>
        </p:nvSpPr>
        <p:spPr>
          <a:xfrm>
            <a:off x="9235440" y="1417320"/>
            <a:ext cx="2377440" cy="3246120"/>
          </a:xfrm>
          <a:prstGeom prst="roundRect">
            <a:avLst>
              <a:gd name="adj" fmla="val 4615"/>
            </a:avLst>
          </a:prstGeom>
          <a:solidFill>
            <a:schemeClr val="bg2"/>
          </a:solidFill>
          <a:ln w="12700">
            <a:solidFill>
              <a:schemeClr val="bg2"/>
            </a:solidFill>
            <a:prstDash val="solid"/>
          </a:ln>
        </p:spPr>
      </p:sp>
      <p:sp>
        <p:nvSpPr>
          <p:cNvPr id="25" name="Text 23"/>
          <p:cNvSpPr txBox="1"/>
          <p:nvPr/>
        </p:nvSpPr>
        <p:spPr>
          <a:xfrm>
            <a:off x="9464040" y="1554480"/>
            <a:ext cx="1920240" cy="365760"/>
          </a:xfrm>
          <a:prstGeom prst="rect">
            <a:avLst/>
          </a:prstGeom>
          <a:noFill/>
          <a:ln/>
        </p:spPr>
        <p:txBody>
          <a:bodyPr wrap="square" lIns="0" tIns="0" rIns="0" bIns="0" rtlCol="0" anchor="t"/>
          <a:lstStyle/>
          <a:p>
            <a:pPr indent="0" marL="0">
              <a:buNone/>
            </a:pPr>
            <a:r>
              <a:rPr lang="en-US" sz="1800" b="1" dirty="0">
                <a:solidFill>
                  <a:schemeClr val="accent1"/>
                </a:solidFill>
              </a:rPr>
              <a:t>Data</a:t>
            </a:r>
            <a:endParaRPr lang="en-US" sz="1800" dirty="0"/>
          </a:p>
        </p:txBody>
      </p:sp>
      <p:sp>
        <p:nvSpPr>
          <p:cNvPr id="26" name="Text 24"/>
          <p:cNvSpPr txBox="1"/>
          <p:nvPr/>
        </p:nvSpPr>
        <p:spPr>
          <a:xfrm>
            <a:off x="9464040" y="2148840"/>
            <a:ext cx="1920240" cy="640080"/>
          </a:xfrm>
          <a:prstGeom prst="rect">
            <a:avLst/>
          </a:prstGeom>
          <a:noFill/>
          <a:ln/>
        </p:spPr>
        <p:txBody>
          <a:bodyPr wrap="square" lIns="0" tIns="0" rIns="0" bIns="0" rtlCol="0" anchor="t"/>
          <a:lstStyle/>
          <a:p>
            <a:pPr indent="0" marL="0">
              <a:buNone/>
            </a:pPr>
            <a:r>
              <a:rPr lang="en-US" sz="1400" b="1" dirty="0">
                <a:solidFill>
                  <a:schemeClr val="tx1"/>
                </a:solidFill>
              </a:rPr>
              <a:t>PostgreSQL + PostGIS</a:t>
            </a:r>
            <a:endParaRPr lang="en-US" sz="1400" dirty="0"/>
          </a:p>
        </p:txBody>
      </p:sp>
      <p:sp>
        <p:nvSpPr>
          <p:cNvPr id="27" name="Text 25"/>
          <p:cNvSpPr txBox="1"/>
          <p:nvPr/>
        </p:nvSpPr>
        <p:spPr>
          <a:xfrm>
            <a:off x="9464040" y="2606040"/>
            <a:ext cx="1920240" cy="731520"/>
          </a:xfrm>
          <a:prstGeom prst="rect">
            <a:avLst/>
          </a:prstGeom>
          <a:noFill/>
          <a:ln/>
        </p:spPr>
        <p:txBody>
          <a:bodyPr wrap="square" lIns="0" tIns="0" rIns="0" bIns="0" rtlCol="0" anchor="t"/>
          <a:lstStyle/>
          <a:p>
            <a:pPr indent="0" marL="0">
              <a:buNone/>
            </a:pPr>
            <a:r>
              <a:rPr lang="en-US" sz="1300" dirty="0">
                <a:solidFill>
                  <a:srgbClr val="5B6B7C"/>
                </a:solidFill>
              </a:rPr>
              <a:t>Stations, measurements, warnings, geography</a:t>
            </a:r>
            <a:endParaRPr lang="en-US" sz="1300" dirty="0"/>
          </a:p>
        </p:txBody>
      </p:sp>
      <p:sp>
        <p:nvSpPr>
          <p:cNvPr id="28" name="Text 26"/>
          <p:cNvSpPr txBox="1"/>
          <p:nvPr/>
        </p:nvSpPr>
        <p:spPr>
          <a:xfrm>
            <a:off x="9464040" y="3520440"/>
            <a:ext cx="1920240" cy="320040"/>
          </a:xfrm>
          <a:prstGeom prst="rect">
            <a:avLst/>
          </a:prstGeom>
          <a:noFill/>
          <a:ln/>
        </p:spPr>
        <p:txBody>
          <a:bodyPr wrap="square" lIns="0" tIns="0" rIns="0" bIns="0" rtlCol="0" anchor="t"/>
          <a:lstStyle/>
          <a:p>
            <a:pPr indent="0" marL="0">
              <a:buNone/>
            </a:pPr>
            <a:r>
              <a:rPr lang="en-US" sz="1400" b="1" dirty="0">
                <a:solidFill>
                  <a:schemeClr val="tx1"/>
                </a:solidFill>
              </a:rPr>
              <a:t>Redis</a:t>
            </a:r>
            <a:endParaRPr lang="en-US" sz="1400" dirty="0"/>
          </a:p>
        </p:txBody>
      </p:sp>
      <p:sp>
        <p:nvSpPr>
          <p:cNvPr id="29" name="Text 27"/>
          <p:cNvSpPr txBox="1"/>
          <p:nvPr/>
        </p:nvSpPr>
        <p:spPr>
          <a:xfrm>
            <a:off x="9464040" y="3840480"/>
            <a:ext cx="1920240" cy="548640"/>
          </a:xfrm>
          <a:prstGeom prst="rect">
            <a:avLst/>
          </a:prstGeom>
          <a:noFill/>
          <a:ln/>
        </p:spPr>
        <p:txBody>
          <a:bodyPr wrap="square" lIns="0" tIns="0" rIns="0" bIns="0" rtlCol="0" anchor="t"/>
          <a:lstStyle/>
          <a:p>
            <a:pPr indent="0" marL="0">
              <a:buNone/>
            </a:pPr>
            <a:r>
              <a:rPr lang="en-US" sz="1300" dirty="0">
                <a:solidFill>
                  <a:srgbClr val="5B6B7C"/>
                </a:solidFill>
              </a:rPr>
              <a:t>Login rate limiting, health</a:t>
            </a:r>
            <a:endParaRPr lang="en-US" sz="1300" dirty="0"/>
          </a:p>
        </p:txBody>
      </p:sp>
      <p:sp>
        <p:nvSpPr>
          <p:cNvPr id="30" name="Arrow external"/>
          <p:cNvSpPr/>
          <p:nvPr/>
        </p:nvSpPr>
        <p:spPr>
          <a:xfrm>
            <a:off x="6995160" y="4736592"/>
            <a:ext cx="320040" cy="320040"/>
          </a:xfrm>
          <a:prstGeom prst="upArrow">
            <a:avLst/>
          </a:prstGeom>
          <a:solidFill>
            <a:schemeClr val="tx2"/>
          </a:solidFill>
          <a:ln w="12700">
            <a:solidFill>
              <a:schemeClr val="tx2"/>
            </a:solidFill>
            <a:prstDash val="solid"/>
          </a:ln>
        </p:spPr>
      </p:sp>
      <p:sp>
        <p:nvSpPr>
          <p:cNvPr id="31" name="Text 29"/>
          <p:cNvSpPr txBox="1"/>
          <p:nvPr/>
        </p:nvSpPr>
        <p:spPr>
          <a:xfrm>
            <a:off x="5486400" y="5102352"/>
            <a:ext cx="3337560" cy="274320"/>
          </a:xfrm>
          <a:prstGeom prst="rect">
            <a:avLst/>
          </a:prstGeom>
          <a:noFill/>
          <a:ln/>
        </p:spPr>
        <p:txBody>
          <a:bodyPr wrap="square" lIns="0" tIns="0" rIns="0" bIns="0" rtlCol="0" anchor="t"/>
          <a:lstStyle/>
          <a:p>
            <a:pPr algn="ctr" indent="0" marL="0">
              <a:buNone/>
            </a:pPr>
            <a:r>
              <a:rPr lang="en-US" sz="1200" dirty="0">
                <a:solidFill>
                  <a:srgbClr val="5B6B7C"/>
                </a:solidFill>
              </a:rPr>
              <a:t>External open data and AI provider (optional)</a:t>
            </a:r>
            <a:endParaRPr lang="en-US" sz="1200" dirty="0"/>
          </a:p>
        </p:txBody>
      </p:sp>
      <p:sp>
        <p:nvSpPr>
          <p:cNvPr id="32" name="External Hub'Eau"/>
          <p:cNvSpPr/>
          <p:nvPr/>
        </p:nvSpPr>
        <p:spPr>
          <a:xfrm>
            <a:off x="548640" y="5440680"/>
            <a:ext cx="1737360" cy="457200"/>
          </a:xfrm>
          <a:prstGeom prst="roundRect">
            <a:avLst>
              <a:gd name="adj" fmla="val 50000"/>
            </a:avLst>
          </a:prstGeom>
          <a:solidFill>
            <a:schemeClr val="bg2"/>
          </a:solidFill>
          <a:ln w="12700">
            <a:solidFill>
              <a:srgbClr val="CFDBE6"/>
            </a:solidFill>
            <a:prstDash val="solid"/>
          </a:ln>
        </p:spPr>
      </p:sp>
      <p:sp>
        <p:nvSpPr>
          <p:cNvPr id="33" name="Text 31"/>
          <p:cNvSpPr txBox="1"/>
          <p:nvPr/>
        </p:nvSpPr>
        <p:spPr>
          <a:xfrm>
            <a:off x="548640" y="54406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Hub'Eau</a:t>
            </a:r>
            <a:endParaRPr lang="en-US" sz="1300" dirty="0"/>
          </a:p>
        </p:txBody>
      </p:sp>
      <p:sp>
        <p:nvSpPr>
          <p:cNvPr id="34" name="External Open-Meteo"/>
          <p:cNvSpPr/>
          <p:nvPr/>
        </p:nvSpPr>
        <p:spPr>
          <a:xfrm>
            <a:off x="2414016" y="5440680"/>
            <a:ext cx="1737360" cy="457200"/>
          </a:xfrm>
          <a:prstGeom prst="roundRect">
            <a:avLst>
              <a:gd name="adj" fmla="val 50000"/>
            </a:avLst>
          </a:prstGeom>
          <a:solidFill>
            <a:schemeClr val="bg2"/>
          </a:solidFill>
          <a:ln w="12700">
            <a:solidFill>
              <a:srgbClr val="CFDBE6"/>
            </a:solidFill>
            <a:prstDash val="solid"/>
          </a:ln>
        </p:spPr>
      </p:sp>
      <p:sp>
        <p:nvSpPr>
          <p:cNvPr id="35" name="Text 33"/>
          <p:cNvSpPr txBox="1"/>
          <p:nvPr/>
        </p:nvSpPr>
        <p:spPr>
          <a:xfrm>
            <a:off x="2414016" y="54406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Open-Meteo</a:t>
            </a:r>
            <a:endParaRPr lang="en-US" sz="1300" dirty="0"/>
          </a:p>
        </p:txBody>
      </p:sp>
      <p:sp>
        <p:nvSpPr>
          <p:cNvPr id="36" name="External eHYD"/>
          <p:cNvSpPr/>
          <p:nvPr/>
        </p:nvSpPr>
        <p:spPr>
          <a:xfrm>
            <a:off x="4279392" y="5440680"/>
            <a:ext cx="1737360" cy="457200"/>
          </a:xfrm>
          <a:prstGeom prst="roundRect">
            <a:avLst>
              <a:gd name="adj" fmla="val 50000"/>
            </a:avLst>
          </a:prstGeom>
          <a:solidFill>
            <a:schemeClr val="bg2"/>
          </a:solidFill>
          <a:ln w="12700">
            <a:solidFill>
              <a:srgbClr val="CFDBE6"/>
            </a:solidFill>
            <a:prstDash val="solid"/>
          </a:ln>
        </p:spPr>
      </p:sp>
      <p:sp>
        <p:nvSpPr>
          <p:cNvPr id="37" name="Text 35"/>
          <p:cNvSpPr txBox="1"/>
          <p:nvPr/>
        </p:nvSpPr>
        <p:spPr>
          <a:xfrm>
            <a:off x="4279392" y="54406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eHYD</a:t>
            </a:r>
            <a:endParaRPr lang="en-US" sz="1300" dirty="0"/>
          </a:p>
        </p:txBody>
      </p:sp>
      <p:sp>
        <p:nvSpPr>
          <p:cNvPr id="38" name="External Waterinfo.be"/>
          <p:cNvSpPr/>
          <p:nvPr/>
        </p:nvSpPr>
        <p:spPr>
          <a:xfrm>
            <a:off x="6144768" y="5440680"/>
            <a:ext cx="1737360" cy="457200"/>
          </a:xfrm>
          <a:prstGeom prst="roundRect">
            <a:avLst>
              <a:gd name="adj" fmla="val 50000"/>
            </a:avLst>
          </a:prstGeom>
          <a:solidFill>
            <a:schemeClr val="bg2"/>
          </a:solidFill>
          <a:ln w="12700">
            <a:solidFill>
              <a:srgbClr val="CFDBE6"/>
            </a:solidFill>
            <a:prstDash val="solid"/>
          </a:ln>
        </p:spPr>
      </p:sp>
      <p:sp>
        <p:nvSpPr>
          <p:cNvPr id="39" name="Text 37"/>
          <p:cNvSpPr txBox="1"/>
          <p:nvPr/>
        </p:nvSpPr>
        <p:spPr>
          <a:xfrm>
            <a:off x="6144768" y="54406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Waterinfo.be</a:t>
            </a:r>
            <a:endParaRPr lang="en-US" sz="1300" dirty="0"/>
          </a:p>
        </p:txBody>
      </p:sp>
      <p:sp>
        <p:nvSpPr>
          <p:cNvPr id="40" name="External NVE HydAPI"/>
          <p:cNvSpPr/>
          <p:nvPr/>
        </p:nvSpPr>
        <p:spPr>
          <a:xfrm>
            <a:off x="8010144" y="5440680"/>
            <a:ext cx="1737360" cy="457200"/>
          </a:xfrm>
          <a:prstGeom prst="roundRect">
            <a:avLst>
              <a:gd name="adj" fmla="val 50000"/>
            </a:avLst>
          </a:prstGeom>
          <a:solidFill>
            <a:schemeClr val="bg2"/>
          </a:solidFill>
          <a:ln w="12700">
            <a:solidFill>
              <a:srgbClr val="CFDBE6"/>
            </a:solidFill>
            <a:prstDash val="solid"/>
          </a:ln>
        </p:spPr>
      </p:sp>
      <p:sp>
        <p:nvSpPr>
          <p:cNvPr id="41" name="Text 39"/>
          <p:cNvSpPr txBox="1"/>
          <p:nvPr/>
        </p:nvSpPr>
        <p:spPr>
          <a:xfrm>
            <a:off x="8010144" y="54406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NVE HydAPI</a:t>
            </a:r>
            <a:endParaRPr lang="en-US" sz="1300" dirty="0"/>
          </a:p>
        </p:txBody>
      </p:sp>
      <p:sp>
        <p:nvSpPr>
          <p:cNvPr id="42" name="External AI provider"/>
          <p:cNvSpPr/>
          <p:nvPr/>
        </p:nvSpPr>
        <p:spPr>
          <a:xfrm>
            <a:off x="9875520" y="5440680"/>
            <a:ext cx="1737360" cy="457200"/>
          </a:xfrm>
          <a:prstGeom prst="roundRect">
            <a:avLst>
              <a:gd name="adj" fmla="val 50000"/>
            </a:avLst>
          </a:prstGeom>
          <a:solidFill>
            <a:schemeClr val="accent2"/>
          </a:solidFill>
          <a:ln w="12700">
            <a:solidFill>
              <a:srgbClr val="CFDBE6"/>
            </a:solidFill>
            <a:prstDash val="solid"/>
          </a:ln>
        </p:spPr>
      </p:sp>
      <p:sp>
        <p:nvSpPr>
          <p:cNvPr id="43" name="Text 41"/>
          <p:cNvSpPr txBox="1"/>
          <p:nvPr/>
        </p:nvSpPr>
        <p:spPr>
          <a:xfrm>
            <a:off x="9875520" y="5440680"/>
            <a:ext cx="1737360" cy="457200"/>
          </a:xfrm>
          <a:prstGeom prst="rect">
            <a:avLst/>
          </a:prstGeom>
          <a:noFill/>
          <a:ln/>
        </p:spPr>
        <p:txBody>
          <a:bodyPr wrap="square" lIns="0" tIns="0" rIns="0" bIns="0" rtlCol="0" anchor="ctr"/>
          <a:lstStyle/>
          <a:p>
            <a:pPr algn="ctr" indent="0" marL="0">
              <a:buNone/>
            </a:pPr>
            <a:r>
              <a:rPr lang="en-US" sz="1300" b="1" dirty="0">
                <a:solidFill>
                  <a:schemeClr val="bg1"/>
                </a:solidFill>
              </a:rPr>
              <a:t>AI provider</a:t>
            </a:r>
            <a:endParaRPr lang="en-US" sz="13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Built for everyone, in nine languages</a:t>
            </a:r>
            <a:endParaRPr lang="en-US" sz="3600" dirty="0"/>
          </a:p>
        </p:txBody>
      </p:sp>
      <p:sp>
        <p:nvSpPr>
          <p:cNvPr id="3" name="Language English"/>
          <p:cNvSpPr/>
          <p:nvPr/>
        </p:nvSpPr>
        <p:spPr>
          <a:xfrm>
            <a:off x="548640" y="1463040"/>
            <a:ext cx="1600200" cy="1005840"/>
          </a:xfrm>
          <a:prstGeom prst="roundRect">
            <a:avLst>
              <a:gd name="adj" fmla="val 10909"/>
            </a:avLst>
          </a:prstGeom>
          <a:solidFill>
            <a:schemeClr val="accent1"/>
          </a:solidFill>
          <a:ln w="12700">
            <a:solidFill>
              <a:schemeClr val="accent1"/>
            </a:solidFill>
            <a:prstDash val="solid"/>
          </a:ln>
        </p:spPr>
      </p:sp>
      <p:sp>
        <p:nvSpPr>
          <p:cNvPr id="4" name="Text 2"/>
          <p:cNvSpPr txBox="1"/>
          <p:nvPr/>
        </p:nvSpPr>
        <p:spPr>
          <a:xfrm>
            <a:off x="548640" y="146304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English</a:t>
            </a:r>
            <a:endParaRPr lang="en-US" sz="1700" dirty="0"/>
          </a:p>
        </p:txBody>
      </p:sp>
      <p:sp>
        <p:nvSpPr>
          <p:cNvPr id="5" name="Language Français"/>
          <p:cNvSpPr/>
          <p:nvPr/>
        </p:nvSpPr>
        <p:spPr>
          <a:xfrm>
            <a:off x="2308860" y="1463040"/>
            <a:ext cx="1600200" cy="1005840"/>
          </a:xfrm>
          <a:prstGeom prst="roundRect">
            <a:avLst>
              <a:gd name="adj" fmla="val 10909"/>
            </a:avLst>
          </a:prstGeom>
          <a:solidFill>
            <a:schemeClr val="accent2"/>
          </a:solidFill>
          <a:ln w="12700">
            <a:solidFill>
              <a:schemeClr val="accent2"/>
            </a:solidFill>
            <a:prstDash val="solid"/>
          </a:ln>
        </p:spPr>
      </p:sp>
      <p:sp>
        <p:nvSpPr>
          <p:cNvPr id="6" name="Text 4"/>
          <p:cNvSpPr txBox="1"/>
          <p:nvPr/>
        </p:nvSpPr>
        <p:spPr>
          <a:xfrm>
            <a:off x="2308860" y="146304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Français</a:t>
            </a:r>
            <a:endParaRPr lang="en-US" sz="1700" dirty="0"/>
          </a:p>
        </p:txBody>
      </p:sp>
      <p:sp>
        <p:nvSpPr>
          <p:cNvPr id="7" name="Language Español"/>
          <p:cNvSpPr/>
          <p:nvPr/>
        </p:nvSpPr>
        <p:spPr>
          <a:xfrm>
            <a:off x="4069080" y="1463040"/>
            <a:ext cx="1600200" cy="1005840"/>
          </a:xfrm>
          <a:prstGeom prst="roundRect">
            <a:avLst>
              <a:gd name="adj" fmla="val 10909"/>
            </a:avLst>
          </a:prstGeom>
          <a:solidFill>
            <a:schemeClr val="accent3"/>
          </a:solidFill>
          <a:ln w="12700">
            <a:solidFill>
              <a:schemeClr val="accent3"/>
            </a:solidFill>
            <a:prstDash val="solid"/>
          </a:ln>
        </p:spPr>
      </p:sp>
      <p:sp>
        <p:nvSpPr>
          <p:cNvPr id="8" name="Text 6"/>
          <p:cNvSpPr txBox="1"/>
          <p:nvPr/>
        </p:nvSpPr>
        <p:spPr>
          <a:xfrm>
            <a:off x="4069080" y="146304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Español</a:t>
            </a:r>
            <a:endParaRPr lang="en-US" sz="1700" dirty="0"/>
          </a:p>
        </p:txBody>
      </p:sp>
      <p:sp>
        <p:nvSpPr>
          <p:cNvPr id="9" name="Language Português"/>
          <p:cNvSpPr/>
          <p:nvPr/>
        </p:nvSpPr>
        <p:spPr>
          <a:xfrm>
            <a:off x="548640" y="2651760"/>
            <a:ext cx="1600200" cy="1005840"/>
          </a:xfrm>
          <a:prstGeom prst="roundRect">
            <a:avLst>
              <a:gd name="adj" fmla="val 10909"/>
            </a:avLst>
          </a:prstGeom>
          <a:solidFill>
            <a:schemeClr val="accent2"/>
          </a:solidFill>
          <a:ln w="12700">
            <a:solidFill>
              <a:schemeClr val="accent2"/>
            </a:solidFill>
            <a:prstDash val="solid"/>
          </a:ln>
        </p:spPr>
      </p:sp>
      <p:sp>
        <p:nvSpPr>
          <p:cNvPr id="10" name="Text 8"/>
          <p:cNvSpPr txBox="1"/>
          <p:nvPr/>
        </p:nvSpPr>
        <p:spPr>
          <a:xfrm>
            <a:off x="548640" y="265176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Português</a:t>
            </a:r>
            <a:endParaRPr lang="en-US" sz="1700" dirty="0"/>
          </a:p>
        </p:txBody>
      </p:sp>
      <p:sp>
        <p:nvSpPr>
          <p:cNvPr id="11" name="Language Norsk"/>
          <p:cNvSpPr/>
          <p:nvPr/>
        </p:nvSpPr>
        <p:spPr>
          <a:xfrm>
            <a:off x="2308860" y="2651760"/>
            <a:ext cx="1600200" cy="1005840"/>
          </a:xfrm>
          <a:prstGeom prst="roundRect">
            <a:avLst>
              <a:gd name="adj" fmla="val 10909"/>
            </a:avLst>
          </a:prstGeom>
          <a:solidFill>
            <a:schemeClr val="accent3"/>
          </a:solidFill>
          <a:ln w="12700">
            <a:solidFill>
              <a:schemeClr val="accent3"/>
            </a:solidFill>
            <a:prstDash val="solid"/>
          </a:ln>
        </p:spPr>
      </p:sp>
      <p:sp>
        <p:nvSpPr>
          <p:cNvPr id="12" name="Text 10"/>
          <p:cNvSpPr txBox="1"/>
          <p:nvPr/>
        </p:nvSpPr>
        <p:spPr>
          <a:xfrm>
            <a:off x="2308860" y="265176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Norsk</a:t>
            </a:r>
            <a:endParaRPr lang="en-US" sz="1700" dirty="0"/>
          </a:p>
        </p:txBody>
      </p:sp>
      <p:sp>
        <p:nvSpPr>
          <p:cNvPr id="13" name="Language Ελληνικά"/>
          <p:cNvSpPr/>
          <p:nvPr/>
        </p:nvSpPr>
        <p:spPr>
          <a:xfrm>
            <a:off x="4069080" y="2651760"/>
            <a:ext cx="1600200" cy="1005840"/>
          </a:xfrm>
          <a:prstGeom prst="roundRect">
            <a:avLst>
              <a:gd name="adj" fmla="val 10909"/>
            </a:avLst>
          </a:prstGeom>
          <a:solidFill>
            <a:schemeClr val="accent1"/>
          </a:solidFill>
          <a:ln w="12700">
            <a:solidFill>
              <a:schemeClr val="accent1"/>
            </a:solidFill>
            <a:prstDash val="solid"/>
          </a:ln>
        </p:spPr>
      </p:sp>
      <p:sp>
        <p:nvSpPr>
          <p:cNvPr id="14" name="Text 12"/>
          <p:cNvSpPr txBox="1"/>
          <p:nvPr/>
        </p:nvSpPr>
        <p:spPr>
          <a:xfrm>
            <a:off x="4069080" y="265176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Ελληνικά</a:t>
            </a:r>
            <a:endParaRPr lang="en-US" sz="1700" dirty="0"/>
          </a:p>
        </p:txBody>
      </p:sp>
      <p:sp>
        <p:nvSpPr>
          <p:cNvPr id="15" name="Language Deutsch"/>
          <p:cNvSpPr/>
          <p:nvPr/>
        </p:nvSpPr>
        <p:spPr>
          <a:xfrm>
            <a:off x="548640" y="3840480"/>
            <a:ext cx="1600200" cy="1005840"/>
          </a:xfrm>
          <a:prstGeom prst="roundRect">
            <a:avLst>
              <a:gd name="adj" fmla="val 10909"/>
            </a:avLst>
          </a:prstGeom>
          <a:solidFill>
            <a:schemeClr val="accent3"/>
          </a:solidFill>
          <a:ln w="12700">
            <a:solidFill>
              <a:schemeClr val="accent3"/>
            </a:solidFill>
            <a:prstDash val="solid"/>
          </a:ln>
        </p:spPr>
      </p:sp>
      <p:sp>
        <p:nvSpPr>
          <p:cNvPr id="16" name="Text 14"/>
          <p:cNvSpPr txBox="1"/>
          <p:nvPr/>
        </p:nvSpPr>
        <p:spPr>
          <a:xfrm>
            <a:off x="548640" y="384048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Deutsch</a:t>
            </a:r>
            <a:endParaRPr lang="en-US" sz="1700" dirty="0"/>
          </a:p>
        </p:txBody>
      </p:sp>
      <p:sp>
        <p:nvSpPr>
          <p:cNvPr id="17" name="Language Italiano"/>
          <p:cNvSpPr/>
          <p:nvPr/>
        </p:nvSpPr>
        <p:spPr>
          <a:xfrm>
            <a:off x="2308860" y="3840480"/>
            <a:ext cx="1600200" cy="1005840"/>
          </a:xfrm>
          <a:prstGeom prst="roundRect">
            <a:avLst>
              <a:gd name="adj" fmla="val 10909"/>
            </a:avLst>
          </a:prstGeom>
          <a:solidFill>
            <a:schemeClr val="accent1"/>
          </a:solidFill>
          <a:ln w="12700">
            <a:solidFill>
              <a:schemeClr val="accent1"/>
            </a:solidFill>
            <a:prstDash val="solid"/>
          </a:ln>
        </p:spPr>
      </p:sp>
      <p:sp>
        <p:nvSpPr>
          <p:cNvPr id="18" name="Text 16"/>
          <p:cNvSpPr txBox="1"/>
          <p:nvPr/>
        </p:nvSpPr>
        <p:spPr>
          <a:xfrm>
            <a:off x="2308860" y="384048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Italiano</a:t>
            </a:r>
            <a:endParaRPr lang="en-US" sz="1700" dirty="0"/>
          </a:p>
        </p:txBody>
      </p:sp>
      <p:sp>
        <p:nvSpPr>
          <p:cNvPr id="19" name="Language Nederlands"/>
          <p:cNvSpPr/>
          <p:nvPr/>
        </p:nvSpPr>
        <p:spPr>
          <a:xfrm>
            <a:off x="4069080" y="3840480"/>
            <a:ext cx="1600200" cy="1005840"/>
          </a:xfrm>
          <a:prstGeom prst="roundRect">
            <a:avLst>
              <a:gd name="adj" fmla="val 10909"/>
            </a:avLst>
          </a:prstGeom>
          <a:solidFill>
            <a:schemeClr val="accent2"/>
          </a:solidFill>
          <a:ln w="12700">
            <a:solidFill>
              <a:schemeClr val="accent2"/>
            </a:solidFill>
            <a:prstDash val="solid"/>
          </a:ln>
        </p:spPr>
      </p:sp>
      <p:sp>
        <p:nvSpPr>
          <p:cNvPr id="20" name="Text 18"/>
          <p:cNvSpPr txBox="1"/>
          <p:nvPr/>
        </p:nvSpPr>
        <p:spPr>
          <a:xfrm>
            <a:off x="4069080" y="3840480"/>
            <a:ext cx="1600200" cy="1005840"/>
          </a:xfrm>
          <a:prstGeom prst="rect">
            <a:avLst/>
          </a:prstGeom>
          <a:noFill/>
          <a:ln/>
        </p:spPr>
        <p:txBody>
          <a:bodyPr wrap="square" lIns="0" tIns="0" rIns="0" bIns="0" rtlCol="0" anchor="ctr"/>
          <a:lstStyle/>
          <a:p>
            <a:pPr algn="ctr" indent="0" marL="0">
              <a:buNone/>
            </a:pPr>
            <a:r>
              <a:rPr lang="en-US" sz="1700" b="1" dirty="0">
                <a:solidFill>
                  <a:schemeClr val="bg1"/>
                </a:solidFill>
              </a:rPr>
              <a:t>Nederlands</a:t>
            </a:r>
            <a:endParaRPr lang="en-US" sz="1700" dirty="0"/>
          </a:p>
        </p:txBody>
      </p:sp>
      <p:sp>
        <p:nvSpPr>
          <p:cNvPr id="21" name="Text 19"/>
          <p:cNvSpPr txBox="1"/>
          <p:nvPr/>
        </p:nvSpPr>
        <p:spPr>
          <a:xfrm>
            <a:off x="548640" y="5120640"/>
            <a:ext cx="5120640" cy="822960"/>
          </a:xfrm>
          <a:prstGeom prst="rect">
            <a:avLst/>
          </a:prstGeom>
          <a:noFill/>
          <a:ln/>
        </p:spPr>
        <p:txBody>
          <a:bodyPr wrap="square" lIns="0" tIns="0" rIns="0" bIns="0" rtlCol="0" anchor="t"/>
          <a:lstStyle/>
          <a:p>
            <a:pPr indent="0" marL="0">
              <a:buNone/>
            </a:pPr>
            <a:r>
              <a:rPr lang="en-US" sz="1400" dirty="0">
                <a:solidFill>
                  <a:srgbClr val="5B6B7C"/>
                </a:solidFill>
              </a:rPr>
              <a:t>Every label, chart title and alert message is translated. Switch language at any time, even on the login page.</a:t>
            </a:r>
            <a:endParaRPr lang="en-US" sz="1400" dirty="0"/>
          </a:p>
        </p:txBody>
      </p:sp>
      <p:sp>
        <p:nvSpPr>
          <p:cNvPr id="22" name="Feature 1"/>
          <p:cNvSpPr/>
          <p:nvPr/>
        </p:nvSpPr>
        <p:spPr>
          <a:xfrm>
            <a:off x="6217920" y="1463040"/>
            <a:ext cx="5394960" cy="1005840"/>
          </a:xfrm>
          <a:prstGeom prst="roundRect">
            <a:avLst>
              <a:gd name="adj" fmla="val 10909"/>
            </a:avLst>
          </a:prstGeom>
          <a:solidFill>
            <a:schemeClr val="bg2"/>
          </a:solidFill>
          <a:ln w="12700">
            <a:solidFill>
              <a:schemeClr val="bg2"/>
            </a:solidFill>
            <a:prstDash val="solid"/>
          </a:ln>
        </p:spPr>
      </p:sp>
      <p:sp>
        <p:nvSpPr>
          <p:cNvPr id="23" name="Feature 1 badge"/>
          <p:cNvSpPr/>
          <p:nvPr/>
        </p:nvSpPr>
        <p:spPr>
          <a:xfrm>
            <a:off x="6446520" y="1645920"/>
            <a:ext cx="640080" cy="640080"/>
          </a:xfrm>
          <a:prstGeom prst="ellipse">
            <a:avLst/>
          </a:prstGeom>
          <a:solidFill>
            <a:schemeClr val="accent1"/>
          </a:solidFill>
          <a:ln w="12700">
            <a:solidFill>
              <a:schemeClr val="accent1"/>
            </a:solidFill>
            <a:prstDash val="solid"/>
          </a:ln>
        </p:spPr>
      </p:sp>
      <p:pic>
        <p:nvPicPr>
          <p:cNvPr id="24" name="Feature 1 icon" descr="Feature 1">    </p:cNvPr>
          <p:cNvPicPr>
            <a:picLocks noChangeAspect="1"/>
          </p:cNvPicPr>
          <p:nvPr/>
        </p:nvPicPr>
        <p:blipFill>
          <a:blip r:embed="rId1"/>
          <a:stretch>
            <a:fillRect/>
          </a:stretch>
        </p:blipFill>
        <p:spPr>
          <a:xfrm>
            <a:off x="6612941" y="1812341"/>
            <a:ext cx="307238" cy="307238"/>
          </a:xfrm>
          <a:prstGeom prst="rect">
            <a:avLst/>
          </a:prstGeom>
        </p:spPr>
      </p:pic>
      <p:sp>
        <p:nvSpPr>
          <p:cNvPr id="25" name="Text 22"/>
          <p:cNvSpPr txBox="1"/>
          <p:nvPr/>
        </p:nvSpPr>
        <p:spPr>
          <a:xfrm>
            <a:off x="7315200" y="1600200"/>
            <a:ext cx="4114800" cy="365760"/>
          </a:xfrm>
          <a:prstGeom prst="rect">
            <a:avLst/>
          </a:prstGeom>
          <a:noFill/>
          <a:ln/>
        </p:spPr>
        <p:txBody>
          <a:bodyPr wrap="square" lIns="0" tIns="0" rIns="0" bIns="0" rtlCol="0" anchor="t"/>
          <a:lstStyle/>
          <a:p>
            <a:pPr indent="0" marL="0">
              <a:buNone/>
            </a:pPr>
            <a:r>
              <a:rPr lang="en-US" sz="1700" b="1" dirty="0">
                <a:solidFill>
                  <a:schemeClr val="tx1"/>
                </a:solidFill>
              </a:rPr>
              <a:t>Light and dark themes</a:t>
            </a:r>
            <a:endParaRPr lang="en-US" sz="1700" dirty="0"/>
          </a:p>
        </p:txBody>
      </p:sp>
      <p:sp>
        <p:nvSpPr>
          <p:cNvPr id="26" name="Text 23"/>
          <p:cNvSpPr txBox="1"/>
          <p:nvPr/>
        </p:nvSpPr>
        <p:spPr>
          <a:xfrm>
            <a:off x="7315200" y="1965960"/>
            <a:ext cx="4114800" cy="457200"/>
          </a:xfrm>
          <a:prstGeom prst="rect">
            <a:avLst/>
          </a:prstGeom>
          <a:noFill/>
          <a:ln/>
        </p:spPr>
        <p:txBody>
          <a:bodyPr wrap="square" lIns="0" tIns="0" rIns="0" bIns="0" rtlCol="0" anchor="t"/>
          <a:lstStyle/>
          <a:p>
            <a:pPr indent="0" marL="0">
              <a:buNone/>
            </a:pPr>
            <a:r>
              <a:rPr lang="en-US" sz="1300" dirty="0">
                <a:solidFill>
                  <a:schemeClr val="tx1"/>
                </a:solidFill>
              </a:rPr>
              <a:t>Comfortable in a control room or in daylight.</a:t>
            </a:r>
            <a:endParaRPr lang="en-US" sz="1300" dirty="0"/>
          </a:p>
        </p:txBody>
      </p:sp>
      <p:sp>
        <p:nvSpPr>
          <p:cNvPr id="27" name="Feature 2"/>
          <p:cNvSpPr/>
          <p:nvPr/>
        </p:nvSpPr>
        <p:spPr>
          <a:xfrm>
            <a:off x="6217920" y="2633472"/>
            <a:ext cx="5394960" cy="1005840"/>
          </a:xfrm>
          <a:prstGeom prst="roundRect">
            <a:avLst>
              <a:gd name="adj" fmla="val 10909"/>
            </a:avLst>
          </a:prstGeom>
          <a:solidFill>
            <a:schemeClr val="bg2"/>
          </a:solidFill>
          <a:ln w="12700">
            <a:solidFill>
              <a:schemeClr val="bg2"/>
            </a:solidFill>
            <a:prstDash val="solid"/>
          </a:ln>
        </p:spPr>
      </p:sp>
      <p:sp>
        <p:nvSpPr>
          <p:cNvPr id="28" name="Feature 2 badge"/>
          <p:cNvSpPr/>
          <p:nvPr/>
        </p:nvSpPr>
        <p:spPr>
          <a:xfrm>
            <a:off x="6446520" y="2816352"/>
            <a:ext cx="640080" cy="640080"/>
          </a:xfrm>
          <a:prstGeom prst="ellipse">
            <a:avLst/>
          </a:prstGeom>
          <a:solidFill>
            <a:schemeClr val="accent2"/>
          </a:solidFill>
          <a:ln w="12700">
            <a:solidFill>
              <a:schemeClr val="accent2"/>
            </a:solidFill>
            <a:prstDash val="solid"/>
          </a:ln>
        </p:spPr>
      </p:sp>
      <p:pic>
        <p:nvPicPr>
          <p:cNvPr id="29" name="Feature 2 icon" descr="Feature 2">    </p:cNvPr>
          <p:cNvPicPr>
            <a:picLocks noChangeAspect="1"/>
          </p:cNvPicPr>
          <p:nvPr/>
        </p:nvPicPr>
        <p:blipFill>
          <a:blip r:embed="rId2"/>
          <a:stretch>
            <a:fillRect/>
          </a:stretch>
        </p:blipFill>
        <p:spPr>
          <a:xfrm>
            <a:off x="6612941" y="2982773"/>
            <a:ext cx="307238" cy="307238"/>
          </a:xfrm>
          <a:prstGeom prst="rect">
            <a:avLst/>
          </a:prstGeom>
        </p:spPr>
      </p:pic>
      <p:sp>
        <p:nvSpPr>
          <p:cNvPr id="30" name="Text 26"/>
          <p:cNvSpPr txBox="1"/>
          <p:nvPr/>
        </p:nvSpPr>
        <p:spPr>
          <a:xfrm>
            <a:off x="7315200" y="2770632"/>
            <a:ext cx="4114800" cy="365760"/>
          </a:xfrm>
          <a:prstGeom prst="rect">
            <a:avLst/>
          </a:prstGeom>
          <a:noFill/>
          <a:ln/>
        </p:spPr>
        <p:txBody>
          <a:bodyPr wrap="square" lIns="0" tIns="0" rIns="0" bIns="0" rtlCol="0" anchor="t"/>
          <a:lstStyle/>
          <a:p>
            <a:pPr indent="0" marL="0">
              <a:buNone/>
            </a:pPr>
            <a:r>
              <a:rPr lang="en-US" sz="1700" b="1" dirty="0">
                <a:solidFill>
                  <a:schemeClr val="tx1"/>
                </a:solidFill>
              </a:rPr>
              <a:t>Role-based access</a:t>
            </a:r>
            <a:endParaRPr lang="en-US" sz="1700" dirty="0"/>
          </a:p>
        </p:txBody>
      </p:sp>
      <p:sp>
        <p:nvSpPr>
          <p:cNvPr id="31" name="Text 27"/>
          <p:cNvSpPr txBox="1"/>
          <p:nvPr/>
        </p:nvSpPr>
        <p:spPr>
          <a:xfrm>
            <a:off x="7315200" y="3136392"/>
            <a:ext cx="4114800" cy="457200"/>
          </a:xfrm>
          <a:prstGeom prst="rect">
            <a:avLst/>
          </a:prstGeom>
          <a:noFill/>
          <a:ln/>
        </p:spPr>
        <p:txBody>
          <a:bodyPr wrap="square" lIns="0" tIns="0" rIns="0" bIns="0" rtlCol="0" anchor="t"/>
          <a:lstStyle/>
          <a:p>
            <a:pPr indent="0" marL="0">
              <a:buNone/>
            </a:pPr>
            <a:r>
              <a:rPr lang="en-US" sz="1300" dirty="0">
                <a:solidFill>
                  <a:schemeClr val="tx1"/>
                </a:solidFill>
              </a:rPr>
              <a:t>Viewer, Operator and Administrator, with per-user custom overrides.</a:t>
            </a:r>
            <a:endParaRPr lang="en-US" sz="1300" dirty="0"/>
          </a:p>
        </p:txBody>
      </p:sp>
      <p:sp>
        <p:nvSpPr>
          <p:cNvPr id="32" name="Feature 3"/>
          <p:cNvSpPr/>
          <p:nvPr/>
        </p:nvSpPr>
        <p:spPr>
          <a:xfrm>
            <a:off x="6217920" y="3803904"/>
            <a:ext cx="5394960" cy="1005840"/>
          </a:xfrm>
          <a:prstGeom prst="roundRect">
            <a:avLst>
              <a:gd name="adj" fmla="val 10909"/>
            </a:avLst>
          </a:prstGeom>
          <a:solidFill>
            <a:schemeClr val="bg2"/>
          </a:solidFill>
          <a:ln w="12700">
            <a:solidFill>
              <a:schemeClr val="bg2"/>
            </a:solidFill>
            <a:prstDash val="solid"/>
          </a:ln>
        </p:spPr>
      </p:sp>
      <p:sp>
        <p:nvSpPr>
          <p:cNvPr id="33" name="Feature 3 badge"/>
          <p:cNvSpPr/>
          <p:nvPr/>
        </p:nvSpPr>
        <p:spPr>
          <a:xfrm>
            <a:off x="6446520" y="3986784"/>
            <a:ext cx="640080" cy="640080"/>
          </a:xfrm>
          <a:prstGeom prst="ellipse">
            <a:avLst/>
          </a:prstGeom>
          <a:solidFill>
            <a:schemeClr val="accent3"/>
          </a:solidFill>
          <a:ln w="12700">
            <a:solidFill>
              <a:schemeClr val="accent3"/>
            </a:solidFill>
            <a:prstDash val="solid"/>
          </a:ln>
        </p:spPr>
      </p:sp>
      <p:pic>
        <p:nvPicPr>
          <p:cNvPr id="34" name="Feature 3 icon" descr="Feature 3">    </p:cNvPr>
          <p:cNvPicPr>
            <a:picLocks noChangeAspect="1"/>
          </p:cNvPicPr>
          <p:nvPr/>
        </p:nvPicPr>
        <p:blipFill>
          <a:blip r:embed="rId3"/>
          <a:stretch>
            <a:fillRect/>
          </a:stretch>
        </p:blipFill>
        <p:spPr>
          <a:xfrm>
            <a:off x="6612941" y="4153205"/>
            <a:ext cx="307238" cy="307238"/>
          </a:xfrm>
          <a:prstGeom prst="rect">
            <a:avLst/>
          </a:prstGeom>
        </p:spPr>
      </p:pic>
      <p:sp>
        <p:nvSpPr>
          <p:cNvPr id="35" name="Text 30"/>
          <p:cNvSpPr txBox="1"/>
          <p:nvPr/>
        </p:nvSpPr>
        <p:spPr>
          <a:xfrm>
            <a:off x="7315200" y="3941064"/>
            <a:ext cx="4114800" cy="365760"/>
          </a:xfrm>
          <a:prstGeom prst="rect">
            <a:avLst/>
          </a:prstGeom>
          <a:noFill/>
          <a:ln/>
        </p:spPr>
        <p:txBody>
          <a:bodyPr wrap="square" lIns="0" tIns="0" rIns="0" bIns="0" rtlCol="0" anchor="t"/>
          <a:lstStyle/>
          <a:p>
            <a:pPr indent="0" marL="0">
              <a:buNone/>
            </a:pPr>
            <a:r>
              <a:rPr lang="en-US" sz="1700" b="1" dirty="0">
                <a:solidFill>
                  <a:schemeClr val="tx1"/>
                </a:solidFill>
              </a:rPr>
              <a:t>Accessible controls</a:t>
            </a:r>
            <a:endParaRPr lang="en-US" sz="1700" dirty="0"/>
          </a:p>
        </p:txBody>
      </p:sp>
      <p:sp>
        <p:nvSpPr>
          <p:cNvPr id="36" name="Text 31"/>
          <p:cNvSpPr txBox="1"/>
          <p:nvPr/>
        </p:nvSpPr>
        <p:spPr>
          <a:xfrm>
            <a:off x="7315200" y="4306824"/>
            <a:ext cx="4114800" cy="457200"/>
          </a:xfrm>
          <a:prstGeom prst="rect">
            <a:avLst/>
          </a:prstGeom>
          <a:noFill/>
          <a:ln/>
        </p:spPr>
        <p:txBody>
          <a:bodyPr wrap="square" lIns="0" tIns="0" rIns="0" bIns="0" rtlCol="0" anchor="t"/>
          <a:lstStyle/>
          <a:p>
            <a:pPr indent="0" marL="0">
              <a:buNone/>
            </a:pPr>
            <a:r>
              <a:rPr lang="en-US" sz="1300" dirty="0">
                <a:solidFill>
                  <a:schemeClr val="tx1"/>
                </a:solidFill>
              </a:rPr>
              <a:t>Labelled controls and keyboard-friendly Vuetify components.</a:t>
            </a:r>
            <a:endParaRPr lang="en-US" sz="1300" dirty="0"/>
          </a:p>
        </p:txBody>
      </p:sp>
      <p:sp>
        <p:nvSpPr>
          <p:cNvPr id="37" name="Feature 4"/>
          <p:cNvSpPr/>
          <p:nvPr/>
        </p:nvSpPr>
        <p:spPr>
          <a:xfrm>
            <a:off x="6217920" y="4974336"/>
            <a:ext cx="5394960" cy="1005840"/>
          </a:xfrm>
          <a:prstGeom prst="roundRect">
            <a:avLst>
              <a:gd name="adj" fmla="val 10909"/>
            </a:avLst>
          </a:prstGeom>
          <a:solidFill>
            <a:schemeClr val="bg2"/>
          </a:solidFill>
          <a:ln w="12700">
            <a:solidFill>
              <a:schemeClr val="bg2"/>
            </a:solidFill>
            <a:prstDash val="solid"/>
          </a:ln>
        </p:spPr>
      </p:sp>
      <p:sp>
        <p:nvSpPr>
          <p:cNvPr id="38" name="Feature 4 badge"/>
          <p:cNvSpPr/>
          <p:nvPr/>
        </p:nvSpPr>
        <p:spPr>
          <a:xfrm>
            <a:off x="6446520" y="5157216"/>
            <a:ext cx="640080" cy="640080"/>
          </a:xfrm>
          <a:prstGeom prst="ellipse">
            <a:avLst/>
          </a:prstGeom>
          <a:solidFill>
            <a:schemeClr val="accent5"/>
          </a:solidFill>
          <a:ln w="12700">
            <a:solidFill>
              <a:schemeClr val="accent5"/>
            </a:solidFill>
            <a:prstDash val="solid"/>
          </a:ln>
        </p:spPr>
      </p:sp>
      <p:pic>
        <p:nvPicPr>
          <p:cNvPr id="39" name="Feature 4 icon" descr="Feature 4">    </p:cNvPr>
          <p:cNvPicPr>
            <a:picLocks noChangeAspect="1"/>
          </p:cNvPicPr>
          <p:nvPr/>
        </p:nvPicPr>
        <p:blipFill>
          <a:blip r:embed="rId4"/>
          <a:stretch>
            <a:fillRect/>
          </a:stretch>
        </p:blipFill>
        <p:spPr>
          <a:xfrm>
            <a:off x="6612941" y="5323637"/>
            <a:ext cx="307238" cy="307238"/>
          </a:xfrm>
          <a:prstGeom prst="rect">
            <a:avLst/>
          </a:prstGeom>
        </p:spPr>
      </p:pic>
      <p:sp>
        <p:nvSpPr>
          <p:cNvPr id="40" name="Text 34"/>
          <p:cNvSpPr txBox="1"/>
          <p:nvPr/>
        </p:nvSpPr>
        <p:spPr>
          <a:xfrm>
            <a:off x="7315200" y="5111496"/>
            <a:ext cx="4114800" cy="365760"/>
          </a:xfrm>
          <a:prstGeom prst="rect">
            <a:avLst/>
          </a:prstGeom>
          <a:noFill/>
          <a:ln/>
        </p:spPr>
        <p:txBody>
          <a:bodyPr wrap="square" lIns="0" tIns="0" rIns="0" bIns="0" rtlCol="0" anchor="t"/>
          <a:lstStyle/>
          <a:p>
            <a:pPr indent="0" marL="0">
              <a:buNone/>
            </a:pPr>
            <a:r>
              <a:rPr lang="en-US" sz="1700" b="1" dirty="0">
                <a:solidFill>
                  <a:schemeClr val="tx1"/>
                </a:solidFill>
              </a:rPr>
              <a:t>Secure by default</a:t>
            </a:r>
            <a:endParaRPr lang="en-US" sz="1700" dirty="0"/>
          </a:p>
        </p:txBody>
      </p:sp>
      <p:sp>
        <p:nvSpPr>
          <p:cNvPr id="41" name="Text 35"/>
          <p:cNvSpPr txBox="1"/>
          <p:nvPr/>
        </p:nvSpPr>
        <p:spPr>
          <a:xfrm>
            <a:off x="7315200" y="5477256"/>
            <a:ext cx="4114800" cy="457200"/>
          </a:xfrm>
          <a:prstGeom prst="rect">
            <a:avLst/>
          </a:prstGeom>
          <a:noFill/>
          <a:ln/>
        </p:spPr>
        <p:txBody>
          <a:bodyPr wrap="square" lIns="0" tIns="0" rIns="0" bIns="0" rtlCol="0" anchor="t"/>
          <a:lstStyle/>
          <a:p>
            <a:pPr indent="0" marL="0">
              <a:buNone/>
            </a:pPr>
            <a:r>
              <a:rPr lang="en-US" sz="1300" dirty="0">
                <a:solidFill>
                  <a:schemeClr val="tx1"/>
                </a:solidFill>
              </a:rPr>
              <a:t>JWT sessions, rate-limited login and a maintenance-mode gate.</a:t>
            </a:r>
            <a:endParaRPr lang="en-US" sz="13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Starts in Toulouse, scales to nine cities</a:t>
            </a:r>
            <a:endParaRPr lang="en-US" sz="3600" dirty="0"/>
          </a:p>
        </p:txBody>
      </p:sp>
      <p:sp>
        <p:nvSpPr>
          <p:cNvPr id="3" name="City map panel"/>
          <p:cNvSpPr/>
          <p:nvPr/>
        </p:nvSpPr>
        <p:spPr>
          <a:xfrm>
            <a:off x="548640" y="1417320"/>
            <a:ext cx="6766560" cy="4526280"/>
          </a:xfrm>
          <a:prstGeom prst="roundRect">
            <a:avLst>
              <a:gd name="adj" fmla="val 2424"/>
            </a:avLst>
          </a:prstGeom>
          <a:solidFill>
            <a:schemeClr val="bg2"/>
          </a:solidFill>
          <a:ln w="12700">
            <a:solidFill>
              <a:schemeClr val="bg2"/>
            </a:solidFill>
            <a:prstDash val="solid"/>
          </a:ln>
        </p:spPr>
      </p:sp>
      <p:sp>
        <p:nvSpPr>
          <p:cNvPr id="4" name="Toulouse halo"/>
          <p:cNvSpPr/>
          <p:nvPr/>
        </p:nvSpPr>
        <p:spPr>
          <a:xfrm>
            <a:off x="2077095" y="3532219"/>
            <a:ext cx="457200" cy="457200"/>
          </a:xfrm>
          <a:prstGeom prst="ellipse">
            <a:avLst/>
          </a:prstGeom>
          <a:solidFill>
            <a:schemeClr val="accent3">
              <a:alpha val="25000"/>
            </a:schemeClr>
          </a:solidFill>
          <a:ln w="12700">
            <a:solidFill>
              <a:schemeClr val="accent3"/>
            </a:solidFill>
            <a:prstDash val="solid"/>
          </a:ln>
        </p:spPr>
      </p:sp>
      <p:sp>
        <p:nvSpPr>
          <p:cNvPr id="5" name="City Toulouse"/>
          <p:cNvSpPr/>
          <p:nvPr/>
        </p:nvSpPr>
        <p:spPr>
          <a:xfrm>
            <a:off x="2177679" y="3632803"/>
            <a:ext cx="256032" cy="256032"/>
          </a:xfrm>
          <a:prstGeom prst="ellipse">
            <a:avLst/>
          </a:prstGeom>
          <a:solidFill>
            <a:schemeClr val="accent3"/>
          </a:solidFill>
          <a:ln w="19050">
            <a:solidFill>
              <a:schemeClr val="bg1"/>
            </a:solidFill>
            <a:prstDash val="solid"/>
          </a:ln>
        </p:spPr>
      </p:sp>
      <p:sp>
        <p:nvSpPr>
          <p:cNvPr id="6" name="Text 4"/>
          <p:cNvSpPr txBox="1"/>
          <p:nvPr/>
        </p:nvSpPr>
        <p:spPr>
          <a:xfrm>
            <a:off x="888375" y="3614515"/>
            <a:ext cx="1188720" cy="292608"/>
          </a:xfrm>
          <a:prstGeom prst="rect">
            <a:avLst/>
          </a:prstGeom>
          <a:noFill/>
          <a:ln/>
        </p:spPr>
        <p:txBody>
          <a:bodyPr wrap="square" lIns="0" tIns="0" rIns="0" bIns="0" rtlCol="0" anchor="ctr"/>
          <a:lstStyle/>
          <a:p>
            <a:pPr algn="r" indent="0" marL="0">
              <a:buNone/>
            </a:pPr>
            <a:r>
              <a:rPr lang="en-US" sz="1300" b="1" dirty="0">
                <a:solidFill>
                  <a:schemeClr val="tx1"/>
                </a:solidFill>
              </a:rPr>
              <a:t>Toulouse</a:t>
            </a:r>
            <a:endParaRPr lang="en-US" sz="1300" dirty="0"/>
          </a:p>
        </p:txBody>
      </p:sp>
      <p:sp>
        <p:nvSpPr>
          <p:cNvPr id="7" name="City Vienna"/>
          <p:cNvSpPr/>
          <p:nvPr/>
        </p:nvSpPr>
        <p:spPr>
          <a:xfrm>
            <a:off x="3658215" y="3106170"/>
            <a:ext cx="182880" cy="182880"/>
          </a:xfrm>
          <a:prstGeom prst="ellipse">
            <a:avLst/>
          </a:prstGeom>
          <a:solidFill>
            <a:schemeClr val="accent1"/>
          </a:solidFill>
          <a:ln w="19050">
            <a:solidFill>
              <a:schemeClr val="bg1"/>
            </a:solidFill>
            <a:prstDash val="solid"/>
          </a:ln>
        </p:spPr>
      </p:sp>
      <p:sp>
        <p:nvSpPr>
          <p:cNvPr id="8" name="Text 6"/>
          <p:cNvSpPr txBox="1"/>
          <p:nvPr/>
        </p:nvSpPr>
        <p:spPr>
          <a:xfrm>
            <a:off x="3978255" y="3051306"/>
            <a:ext cx="1280160" cy="292608"/>
          </a:xfrm>
          <a:prstGeom prst="rect">
            <a:avLst/>
          </a:prstGeom>
          <a:noFill/>
          <a:ln/>
        </p:spPr>
        <p:txBody>
          <a:bodyPr wrap="square" lIns="0" tIns="0" rIns="0" bIns="0" rtlCol="0" anchor="ctr"/>
          <a:lstStyle/>
          <a:p>
            <a:pPr indent="0" marL="0">
              <a:buNone/>
            </a:pPr>
            <a:r>
              <a:rPr lang="en-US" sz="1300" b="1" dirty="0">
                <a:solidFill>
                  <a:schemeClr val="tx1"/>
                </a:solidFill>
              </a:rPr>
              <a:t>Vienna</a:t>
            </a:r>
            <a:endParaRPr lang="en-US" sz="1300" dirty="0"/>
          </a:p>
        </p:txBody>
      </p:sp>
      <p:sp>
        <p:nvSpPr>
          <p:cNvPr id="9" name="City Ghent"/>
          <p:cNvSpPr/>
          <p:nvPr/>
        </p:nvSpPr>
        <p:spPr>
          <a:xfrm>
            <a:off x="2434766" y="2757226"/>
            <a:ext cx="182880" cy="182880"/>
          </a:xfrm>
          <a:prstGeom prst="ellipse">
            <a:avLst/>
          </a:prstGeom>
          <a:solidFill>
            <a:schemeClr val="accent1"/>
          </a:solidFill>
          <a:ln w="19050">
            <a:solidFill>
              <a:schemeClr val="bg1"/>
            </a:solidFill>
            <a:prstDash val="solid"/>
          </a:ln>
        </p:spPr>
      </p:sp>
      <p:sp>
        <p:nvSpPr>
          <p:cNvPr id="10" name="Text 8"/>
          <p:cNvSpPr txBox="1"/>
          <p:nvPr/>
        </p:nvSpPr>
        <p:spPr>
          <a:xfrm>
            <a:off x="2754806" y="2702362"/>
            <a:ext cx="1280160" cy="292608"/>
          </a:xfrm>
          <a:prstGeom prst="rect">
            <a:avLst/>
          </a:prstGeom>
          <a:noFill/>
          <a:ln/>
        </p:spPr>
        <p:txBody>
          <a:bodyPr wrap="square" lIns="0" tIns="0" rIns="0" bIns="0" rtlCol="0" anchor="ctr"/>
          <a:lstStyle/>
          <a:p>
            <a:pPr indent="0" marL="0">
              <a:buNone/>
            </a:pPr>
            <a:r>
              <a:rPr lang="en-US" sz="1300" b="1" dirty="0">
                <a:solidFill>
                  <a:schemeClr val="tx1"/>
                </a:solidFill>
              </a:rPr>
              <a:t>Ghent</a:t>
            </a:r>
            <a:endParaRPr lang="en-US" sz="1300" dirty="0"/>
          </a:p>
        </p:txBody>
      </p:sp>
      <p:sp>
        <p:nvSpPr>
          <p:cNvPr id="11" name="City Oslo"/>
          <p:cNvSpPr/>
          <p:nvPr/>
        </p:nvSpPr>
        <p:spPr>
          <a:xfrm>
            <a:off x="3114675" y="1673662"/>
            <a:ext cx="182880" cy="182880"/>
          </a:xfrm>
          <a:prstGeom prst="ellipse">
            <a:avLst/>
          </a:prstGeom>
          <a:solidFill>
            <a:schemeClr val="accent1"/>
          </a:solidFill>
          <a:ln w="19050">
            <a:solidFill>
              <a:schemeClr val="bg1"/>
            </a:solidFill>
            <a:prstDash val="solid"/>
          </a:ln>
        </p:spPr>
      </p:sp>
      <p:sp>
        <p:nvSpPr>
          <p:cNvPr id="12" name="Text 10"/>
          <p:cNvSpPr txBox="1"/>
          <p:nvPr/>
        </p:nvSpPr>
        <p:spPr>
          <a:xfrm>
            <a:off x="3434715" y="1618798"/>
            <a:ext cx="1280160" cy="292608"/>
          </a:xfrm>
          <a:prstGeom prst="rect">
            <a:avLst/>
          </a:prstGeom>
          <a:noFill/>
          <a:ln/>
        </p:spPr>
        <p:txBody>
          <a:bodyPr wrap="square" lIns="0" tIns="0" rIns="0" bIns="0" rtlCol="0" anchor="ctr"/>
          <a:lstStyle/>
          <a:p>
            <a:pPr indent="0" marL="0">
              <a:buNone/>
            </a:pPr>
            <a:r>
              <a:rPr lang="en-US" sz="1300" b="1" dirty="0">
                <a:solidFill>
                  <a:schemeClr val="tx1"/>
                </a:solidFill>
              </a:rPr>
              <a:t>Oslo</a:t>
            </a:r>
            <a:endParaRPr lang="en-US" sz="1300" dirty="0"/>
          </a:p>
        </p:txBody>
      </p:sp>
      <p:sp>
        <p:nvSpPr>
          <p:cNvPr id="13" name="City Coimbra"/>
          <p:cNvSpPr/>
          <p:nvPr/>
        </p:nvSpPr>
        <p:spPr>
          <a:xfrm>
            <a:off x="1259674" y="4085663"/>
            <a:ext cx="182880" cy="182880"/>
          </a:xfrm>
          <a:prstGeom prst="ellipse">
            <a:avLst/>
          </a:prstGeom>
          <a:solidFill>
            <a:schemeClr val="tx2">
              <a:alpha val="45000"/>
            </a:schemeClr>
          </a:solidFill>
          <a:ln w="19050">
            <a:solidFill>
              <a:schemeClr val="bg1"/>
            </a:solidFill>
            <a:prstDash val="solid"/>
          </a:ln>
        </p:spPr>
      </p:sp>
      <p:sp>
        <p:nvSpPr>
          <p:cNvPr id="14" name="Text 12"/>
          <p:cNvSpPr txBox="1"/>
          <p:nvPr/>
        </p:nvSpPr>
        <p:spPr>
          <a:xfrm>
            <a:off x="1579714" y="4030799"/>
            <a:ext cx="1280160" cy="292608"/>
          </a:xfrm>
          <a:prstGeom prst="rect">
            <a:avLst/>
          </a:prstGeom>
          <a:noFill/>
          <a:ln/>
        </p:spPr>
        <p:txBody>
          <a:bodyPr wrap="square" lIns="0" tIns="0" rIns="0" bIns="0" rtlCol="0" anchor="ctr"/>
          <a:lstStyle/>
          <a:p>
            <a:pPr indent="0" marL="0">
              <a:buNone/>
            </a:pPr>
            <a:r>
              <a:rPr lang="en-US" sz="1300" dirty="0">
                <a:solidFill>
                  <a:schemeClr val="tx1"/>
                </a:solidFill>
              </a:rPr>
              <a:t>Coimbra</a:t>
            </a:r>
            <a:endParaRPr lang="en-US" sz="1300" dirty="0"/>
          </a:p>
        </p:txBody>
      </p:sp>
      <p:sp>
        <p:nvSpPr>
          <p:cNvPr id="15" name="City Athens"/>
          <p:cNvSpPr/>
          <p:nvPr/>
        </p:nvSpPr>
        <p:spPr>
          <a:xfrm>
            <a:off x="4370041" y="4357472"/>
            <a:ext cx="182880" cy="182880"/>
          </a:xfrm>
          <a:prstGeom prst="ellipse">
            <a:avLst/>
          </a:prstGeom>
          <a:solidFill>
            <a:schemeClr val="tx2">
              <a:alpha val="45000"/>
            </a:schemeClr>
          </a:solidFill>
          <a:ln w="19050">
            <a:solidFill>
              <a:schemeClr val="bg1"/>
            </a:solidFill>
            <a:prstDash val="solid"/>
          </a:ln>
        </p:spPr>
      </p:sp>
      <p:sp>
        <p:nvSpPr>
          <p:cNvPr id="16" name="Text 14"/>
          <p:cNvSpPr txBox="1"/>
          <p:nvPr/>
        </p:nvSpPr>
        <p:spPr>
          <a:xfrm>
            <a:off x="4690081" y="4302608"/>
            <a:ext cx="1280160" cy="292608"/>
          </a:xfrm>
          <a:prstGeom prst="rect">
            <a:avLst/>
          </a:prstGeom>
          <a:noFill/>
          <a:ln/>
        </p:spPr>
        <p:txBody>
          <a:bodyPr wrap="square" lIns="0" tIns="0" rIns="0" bIns="0" rtlCol="0" anchor="ctr"/>
          <a:lstStyle/>
          <a:p>
            <a:pPr indent="0" marL="0">
              <a:buNone/>
            </a:pPr>
            <a:r>
              <a:rPr lang="en-US" sz="1300" dirty="0">
                <a:solidFill>
                  <a:schemeClr val="tx1"/>
                </a:solidFill>
              </a:rPr>
              <a:t>Athens</a:t>
            </a:r>
            <a:endParaRPr lang="en-US" sz="1300" dirty="0"/>
          </a:p>
        </p:txBody>
      </p:sp>
      <p:sp>
        <p:nvSpPr>
          <p:cNvPr id="17" name="City Barcelona"/>
          <p:cNvSpPr/>
          <p:nvPr/>
        </p:nvSpPr>
        <p:spPr>
          <a:xfrm>
            <a:off x="2284857" y="3939964"/>
            <a:ext cx="182880" cy="182880"/>
          </a:xfrm>
          <a:prstGeom prst="ellipse">
            <a:avLst/>
          </a:prstGeom>
          <a:solidFill>
            <a:schemeClr val="tx2">
              <a:alpha val="45000"/>
            </a:schemeClr>
          </a:solidFill>
          <a:ln w="19050">
            <a:solidFill>
              <a:schemeClr val="bg1"/>
            </a:solidFill>
            <a:prstDash val="solid"/>
          </a:ln>
        </p:spPr>
      </p:sp>
      <p:sp>
        <p:nvSpPr>
          <p:cNvPr id="18" name="Text 16"/>
          <p:cNvSpPr txBox="1"/>
          <p:nvPr/>
        </p:nvSpPr>
        <p:spPr>
          <a:xfrm>
            <a:off x="2604897" y="3885100"/>
            <a:ext cx="1280160" cy="292608"/>
          </a:xfrm>
          <a:prstGeom prst="rect">
            <a:avLst/>
          </a:prstGeom>
          <a:noFill/>
          <a:ln/>
        </p:spPr>
        <p:txBody>
          <a:bodyPr wrap="square" lIns="0" tIns="0" rIns="0" bIns="0" rtlCol="0" anchor="ctr"/>
          <a:lstStyle/>
          <a:p>
            <a:pPr indent="0" marL="0">
              <a:buNone/>
            </a:pPr>
            <a:r>
              <a:rPr lang="en-US" sz="1300" dirty="0">
                <a:solidFill>
                  <a:schemeClr val="tx1"/>
                </a:solidFill>
              </a:rPr>
              <a:t>Barcelona</a:t>
            </a:r>
            <a:endParaRPr lang="en-US" sz="1300" dirty="0"/>
          </a:p>
        </p:txBody>
      </p:sp>
      <p:sp>
        <p:nvSpPr>
          <p:cNvPr id="19" name="City Naples"/>
          <p:cNvSpPr/>
          <p:nvPr/>
        </p:nvSpPr>
        <p:spPr>
          <a:xfrm>
            <a:off x="3455113" y="4006079"/>
            <a:ext cx="182880" cy="182880"/>
          </a:xfrm>
          <a:prstGeom prst="ellipse">
            <a:avLst/>
          </a:prstGeom>
          <a:solidFill>
            <a:schemeClr val="tx2">
              <a:alpha val="45000"/>
            </a:schemeClr>
          </a:solidFill>
          <a:ln w="19050">
            <a:solidFill>
              <a:schemeClr val="bg1"/>
            </a:solidFill>
            <a:prstDash val="solid"/>
          </a:ln>
        </p:spPr>
      </p:sp>
      <p:sp>
        <p:nvSpPr>
          <p:cNvPr id="20" name="Text 18"/>
          <p:cNvSpPr txBox="1"/>
          <p:nvPr/>
        </p:nvSpPr>
        <p:spPr>
          <a:xfrm>
            <a:off x="3775153" y="3951215"/>
            <a:ext cx="1280160" cy="292608"/>
          </a:xfrm>
          <a:prstGeom prst="rect">
            <a:avLst/>
          </a:prstGeom>
          <a:noFill/>
          <a:ln/>
        </p:spPr>
        <p:txBody>
          <a:bodyPr wrap="square" lIns="0" tIns="0" rIns="0" bIns="0" rtlCol="0" anchor="ctr"/>
          <a:lstStyle/>
          <a:p>
            <a:pPr indent="0" marL="0">
              <a:buNone/>
            </a:pPr>
            <a:r>
              <a:rPr lang="en-US" sz="1300" dirty="0">
                <a:solidFill>
                  <a:schemeClr val="tx1"/>
                </a:solidFill>
              </a:rPr>
              <a:t>Naples</a:t>
            </a:r>
            <a:endParaRPr lang="en-US" sz="1300" dirty="0"/>
          </a:p>
        </p:txBody>
      </p:sp>
      <p:sp>
        <p:nvSpPr>
          <p:cNvPr id="21" name="City Holon"/>
          <p:cNvSpPr/>
          <p:nvPr/>
        </p:nvSpPr>
        <p:spPr>
          <a:xfrm>
            <a:off x="5438746" y="5087195"/>
            <a:ext cx="182880" cy="182880"/>
          </a:xfrm>
          <a:prstGeom prst="ellipse">
            <a:avLst/>
          </a:prstGeom>
          <a:solidFill>
            <a:schemeClr val="tx2">
              <a:alpha val="45000"/>
            </a:schemeClr>
          </a:solidFill>
          <a:ln w="19050">
            <a:solidFill>
              <a:schemeClr val="bg1"/>
            </a:solidFill>
            <a:prstDash val="solid"/>
          </a:ln>
        </p:spPr>
      </p:sp>
      <p:sp>
        <p:nvSpPr>
          <p:cNvPr id="22" name="Text 20"/>
          <p:cNvSpPr txBox="1"/>
          <p:nvPr/>
        </p:nvSpPr>
        <p:spPr>
          <a:xfrm>
            <a:off x="5758786" y="5032331"/>
            <a:ext cx="1280160" cy="292608"/>
          </a:xfrm>
          <a:prstGeom prst="rect">
            <a:avLst/>
          </a:prstGeom>
          <a:noFill/>
          <a:ln/>
        </p:spPr>
        <p:txBody>
          <a:bodyPr wrap="square" lIns="0" tIns="0" rIns="0" bIns="0" rtlCol="0" anchor="ctr"/>
          <a:lstStyle/>
          <a:p>
            <a:pPr indent="0" marL="0">
              <a:buNone/>
            </a:pPr>
            <a:r>
              <a:rPr lang="en-US" sz="1300" dirty="0">
                <a:solidFill>
                  <a:schemeClr val="tx1"/>
                </a:solidFill>
              </a:rPr>
              <a:t>Holon</a:t>
            </a:r>
            <a:endParaRPr lang="en-US" sz="1300" dirty="0"/>
          </a:p>
        </p:txBody>
      </p:sp>
      <p:sp>
        <p:nvSpPr>
          <p:cNvPr id="23" name="Legend dot 1"/>
          <p:cNvSpPr/>
          <p:nvPr/>
        </p:nvSpPr>
        <p:spPr>
          <a:xfrm>
            <a:off x="868680" y="5586984"/>
            <a:ext cx="182880" cy="182880"/>
          </a:xfrm>
          <a:prstGeom prst="ellipse">
            <a:avLst/>
          </a:prstGeom>
          <a:solidFill>
            <a:schemeClr val="accent3"/>
          </a:solidFill>
          <a:ln w="12700">
            <a:solidFill>
              <a:schemeClr val="accent3"/>
            </a:solidFill>
            <a:prstDash val="solid"/>
          </a:ln>
        </p:spPr>
      </p:sp>
      <p:sp>
        <p:nvSpPr>
          <p:cNvPr id="24" name="Text 22"/>
          <p:cNvSpPr txBox="1"/>
          <p:nvPr/>
        </p:nvSpPr>
        <p:spPr>
          <a:xfrm>
            <a:off x="1143000" y="5532120"/>
            <a:ext cx="1828800" cy="292608"/>
          </a:xfrm>
          <a:prstGeom prst="rect">
            <a:avLst/>
          </a:prstGeom>
          <a:noFill/>
          <a:ln/>
        </p:spPr>
        <p:txBody>
          <a:bodyPr wrap="square" lIns="0" tIns="0" rIns="0" bIns="0" rtlCol="0" anchor="ctr"/>
          <a:lstStyle/>
          <a:p>
            <a:pPr indent="0" marL="0">
              <a:buNone/>
            </a:pPr>
            <a:r>
              <a:rPr lang="en-US" sz="1200" dirty="0">
                <a:solidFill>
                  <a:srgbClr val="5B6B7C"/>
                </a:solidFill>
              </a:rPr>
              <a:t>Live data (Toulouse)</a:t>
            </a:r>
            <a:endParaRPr lang="en-US" sz="1200" dirty="0"/>
          </a:p>
        </p:txBody>
      </p:sp>
      <p:sp>
        <p:nvSpPr>
          <p:cNvPr id="25" name="Legend dot 2"/>
          <p:cNvSpPr/>
          <p:nvPr/>
        </p:nvSpPr>
        <p:spPr>
          <a:xfrm>
            <a:off x="3017520" y="5586984"/>
            <a:ext cx="182880" cy="182880"/>
          </a:xfrm>
          <a:prstGeom prst="ellipse">
            <a:avLst/>
          </a:prstGeom>
          <a:solidFill>
            <a:schemeClr val="accent1"/>
          </a:solidFill>
          <a:ln w="12700">
            <a:solidFill>
              <a:schemeClr val="accent1"/>
            </a:solidFill>
            <a:prstDash val="solid"/>
          </a:ln>
        </p:spPr>
      </p:sp>
      <p:sp>
        <p:nvSpPr>
          <p:cNvPr id="26" name="Text 24"/>
          <p:cNvSpPr txBox="1"/>
          <p:nvPr/>
        </p:nvSpPr>
        <p:spPr>
          <a:xfrm>
            <a:off x="3291840" y="5532120"/>
            <a:ext cx="1828800" cy="292608"/>
          </a:xfrm>
          <a:prstGeom prst="rect">
            <a:avLst/>
          </a:prstGeom>
          <a:noFill/>
          <a:ln/>
        </p:spPr>
        <p:txBody>
          <a:bodyPr wrap="square" lIns="0" tIns="0" rIns="0" bIns="0" rtlCol="0" anchor="ctr"/>
          <a:lstStyle/>
          <a:p>
            <a:pPr indent="0" marL="0">
              <a:buNone/>
            </a:pPr>
            <a:r>
              <a:rPr lang="en-US" sz="1200" dirty="0">
                <a:solidFill>
                  <a:srgbClr val="5B6B7C"/>
                </a:solidFill>
              </a:rPr>
              <a:t>Connector built</a:t>
            </a:r>
            <a:endParaRPr lang="en-US" sz="1200" dirty="0"/>
          </a:p>
        </p:txBody>
      </p:sp>
      <p:sp>
        <p:nvSpPr>
          <p:cNvPr id="27" name="Legend dot 3"/>
          <p:cNvSpPr/>
          <p:nvPr/>
        </p:nvSpPr>
        <p:spPr>
          <a:xfrm>
            <a:off x="5166360" y="5586984"/>
            <a:ext cx="182880" cy="182880"/>
          </a:xfrm>
          <a:prstGeom prst="ellipse">
            <a:avLst/>
          </a:prstGeom>
          <a:solidFill>
            <a:schemeClr val="tx2">
              <a:alpha val="45000"/>
            </a:schemeClr>
          </a:solidFill>
          <a:ln w="12700">
            <a:solidFill>
              <a:schemeClr val="tx2"/>
            </a:solidFill>
            <a:prstDash val="solid"/>
          </a:ln>
        </p:spPr>
      </p:sp>
      <p:sp>
        <p:nvSpPr>
          <p:cNvPr id="28" name="Text 26"/>
          <p:cNvSpPr txBox="1"/>
          <p:nvPr/>
        </p:nvSpPr>
        <p:spPr>
          <a:xfrm>
            <a:off x="5440680" y="5532120"/>
            <a:ext cx="1828800" cy="292608"/>
          </a:xfrm>
          <a:prstGeom prst="rect">
            <a:avLst/>
          </a:prstGeom>
          <a:noFill/>
          <a:ln/>
        </p:spPr>
        <p:txBody>
          <a:bodyPr wrap="square" lIns="0" tIns="0" rIns="0" bIns="0" rtlCol="0" anchor="ctr"/>
          <a:lstStyle/>
          <a:p>
            <a:pPr indent="0" marL="0">
              <a:buNone/>
            </a:pPr>
            <a:r>
              <a:rPr lang="en-US" sz="1200" dirty="0">
                <a:solidFill>
                  <a:srgbClr val="5B6B7C"/>
                </a:solidFill>
              </a:rPr>
              <a:t>Planned</a:t>
            </a:r>
            <a:endParaRPr lang="en-US" sz="1200" dirty="0"/>
          </a:p>
        </p:txBody>
      </p:sp>
      <p:sp>
        <p:nvSpPr>
          <p:cNvPr id="29" name="Scale 1 badge"/>
          <p:cNvSpPr/>
          <p:nvPr/>
        </p:nvSpPr>
        <p:spPr>
          <a:xfrm>
            <a:off x="7680960" y="1417320"/>
            <a:ext cx="685800" cy="685800"/>
          </a:xfrm>
          <a:prstGeom prst="ellipse">
            <a:avLst/>
          </a:prstGeom>
          <a:solidFill>
            <a:schemeClr val="accent1"/>
          </a:solidFill>
          <a:ln w="12700">
            <a:solidFill>
              <a:schemeClr val="accent1"/>
            </a:solidFill>
            <a:prstDash val="solid"/>
          </a:ln>
        </p:spPr>
      </p:sp>
      <p:pic>
        <p:nvPicPr>
          <p:cNvPr id="30" name="Scale 1 icon" descr="Scale 1">    </p:cNvPr>
          <p:cNvPicPr>
            <a:picLocks noChangeAspect="1"/>
          </p:cNvPicPr>
          <p:nvPr/>
        </p:nvPicPr>
        <p:blipFill>
          <a:blip r:embed="rId1"/>
          <a:stretch>
            <a:fillRect/>
          </a:stretch>
        </p:blipFill>
        <p:spPr>
          <a:xfrm>
            <a:off x="7859268" y="1595628"/>
            <a:ext cx="329184" cy="329184"/>
          </a:xfrm>
          <a:prstGeom prst="rect">
            <a:avLst/>
          </a:prstGeom>
        </p:spPr>
      </p:pic>
      <p:sp>
        <p:nvSpPr>
          <p:cNvPr id="31" name="Text 28"/>
          <p:cNvSpPr txBox="1"/>
          <p:nvPr/>
        </p:nvSpPr>
        <p:spPr>
          <a:xfrm>
            <a:off x="8549640" y="1435608"/>
            <a:ext cx="3063240" cy="640080"/>
          </a:xfrm>
          <a:prstGeom prst="rect">
            <a:avLst/>
          </a:prstGeom>
          <a:noFill/>
          <a:ln/>
        </p:spPr>
        <p:txBody>
          <a:bodyPr wrap="square" lIns="0" tIns="0" rIns="0" bIns="0" rtlCol="0" anchor="ctr"/>
          <a:lstStyle/>
          <a:p>
            <a:pPr indent="0" marL="0">
              <a:buNone/>
            </a:pPr>
            <a:r>
              <a:rPr lang="en-US" sz="1800" b="1" dirty="0">
                <a:solidFill>
                  <a:schemeClr val="tx1"/>
                </a:solidFill>
              </a:rPr>
              <a:t>One connector per city</a:t>
            </a:r>
            <a:endParaRPr lang="en-US" sz="1800" dirty="0"/>
          </a:p>
        </p:txBody>
      </p:sp>
      <p:sp>
        <p:nvSpPr>
          <p:cNvPr id="32" name="Text 29"/>
          <p:cNvSpPr txBox="1"/>
          <p:nvPr/>
        </p:nvSpPr>
        <p:spPr>
          <a:xfrm>
            <a:off x="7680960" y="2194560"/>
            <a:ext cx="3931920" cy="685800"/>
          </a:xfrm>
          <a:prstGeom prst="rect">
            <a:avLst/>
          </a:prstGeom>
          <a:noFill/>
          <a:ln/>
        </p:spPr>
        <p:txBody>
          <a:bodyPr wrap="square" lIns="0" tIns="0" rIns="0" bIns="0" rtlCol="0" anchor="t"/>
          <a:lstStyle/>
          <a:p>
            <a:pPr indent="0" marL="0">
              <a:buNone/>
            </a:pPr>
            <a:r>
              <a:rPr lang="en-US" sz="1400" dirty="0">
                <a:solidFill>
                  <a:schemeClr val="tx1"/>
                </a:solidFill>
              </a:rPr>
              <a:t>A reusable interface: a new city is one class and one registry line.</a:t>
            </a:r>
            <a:endParaRPr lang="en-US" sz="1400" dirty="0"/>
          </a:p>
        </p:txBody>
      </p:sp>
      <p:sp>
        <p:nvSpPr>
          <p:cNvPr id="33" name="Scale 2 badge"/>
          <p:cNvSpPr/>
          <p:nvPr/>
        </p:nvSpPr>
        <p:spPr>
          <a:xfrm>
            <a:off x="7680960" y="2971800"/>
            <a:ext cx="685800" cy="685800"/>
          </a:xfrm>
          <a:prstGeom prst="ellipse">
            <a:avLst/>
          </a:prstGeom>
          <a:solidFill>
            <a:schemeClr val="accent2"/>
          </a:solidFill>
          <a:ln w="12700">
            <a:solidFill>
              <a:schemeClr val="accent2"/>
            </a:solidFill>
            <a:prstDash val="solid"/>
          </a:ln>
        </p:spPr>
      </p:sp>
      <p:pic>
        <p:nvPicPr>
          <p:cNvPr id="34" name="Scale 2 icon" descr="Scale 2">    </p:cNvPr>
          <p:cNvPicPr>
            <a:picLocks noChangeAspect="1"/>
          </p:cNvPicPr>
          <p:nvPr/>
        </p:nvPicPr>
        <p:blipFill>
          <a:blip r:embed="rId2"/>
          <a:stretch>
            <a:fillRect/>
          </a:stretch>
        </p:blipFill>
        <p:spPr>
          <a:xfrm>
            <a:off x="7859268" y="3150108"/>
            <a:ext cx="329184" cy="329184"/>
          </a:xfrm>
          <a:prstGeom prst="rect">
            <a:avLst/>
          </a:prstGeom>
        </p:spPr>
      </p:pic>
      <p:sp>
        <p:nvSpPr>
          <p:cNvPr id="35" name="Text 31"/>
          <p:cNvSpPr txBox="1"/>
          <p:nvPr/>
        </p:nvSpPr>
        <p:spPr>
          <a:xfrm>
            <a:off x="8549640" y="2990088"/>
            <a:ext cx="3063240" cy="640080"/>
          </a:xfrm>
          <a:prstGeom prst="rect">
            <a:avLst/>
          </a:prstGeom>
          <a:noFill/>
          <a:ln/>
        </p:spPr>
        <p:txBody>
          <a:bodyPr wrap="square" lIns="0" tIns="0" rIns="0" bIns="0" rtlCol="0" anchor="ctr"/>
          <a:lstStyle/>
          <a:p>
            <a:pPr indent="0" marL="0">
              <a:buNone/>
            </a:pPr>
            <a:r>
              <a:rPr lang="en-US" sz="1800" b="1" dirty="0">
                <a:solidFill>
                  <a:schemeClr val="tx1"/>
                </a:solidFill>
              </a:rPr>
              <a:t>Honest by design</a:t>
            </a:r>
            <a:endParaRPr lang="en-US" sz="1800" dirty="0"/>
          </a:p>
        </p:txBody>
      </p:sp>
      <p:sp>
        <p:nvSpPr>
          <p:cNvPr id="36" name="Text 32"/>
          <p:cNvSpPr txBox="1"/>
          <p:nvPr/>
        </p:nvSpPr>
        <p:spPr>
          <a:xfrm>
            <a:off x="7680960" y="3749040"/>
            <a:ext cx="3931920" cy="685800"/>
          </a:xfrm>
          <a:prstGeom prst="rect">
            <a:avLst/>
          </a:prstGeom>
          <a:noFill/>
          <a:ln/>
        </p:spPr>
        <p:txBody>
          <a:bodyPr wrap="square" lIns="0" tIns="0" rIns="0" bIns="0" rtlCol="0" anchor="t"/>
          <a:lstStyle/>
          <a:p>
            <a:pPr indent="0" marL="0">
              <a:buNone/>
            </a:pPr>
            <a:r>
              <a:rPr lang="en-US" sz="1400" dirty="0">
                <a:solidFill>
                  <a:schemeClr val="tx1"/>
                </a:solidFill>
              </a:rPr>
              <a:t>A city without a live connector shows a clear 'no live data' state, never borrowed numbers.</a:t>
            </a:r>
            <a:endParaRPr lang="en-US" sz="1400" dirty="0"/>
          </a:p>
        </p:txBody>
      </p:sp>
      <p:sp>
        <p:nvSpPr>
          <p:cNvPr id="37" name="Scale 3 badge"/>
          <p:cNvSpPr/>
          <p:nvPr/>
        </p:nvSpPr>
        <p:spPr>
          <a:xfrm>
            <a:off x="7680960" y="4526280"/>
            <a:ext cx="685800" cy="685800"/>
          </a:xfrm>
          <a:prstGeom prst="ellipse">
            <a:avLst/>
          </a:prstGeom>
          <a:solidFill>
            <a:schemeClr val="accent3"/>
          </a:solidFill>
          <a:ln w="12700">
            <a:solidFill>
              <a:schemeClr val="accent3"/>
            </a:solidFill>
            <a:prstDash val="solid"/>
          </a:ln>
        </p:spPr>
      </p:sp>
      <p:pic>
        <p:nvPicPr>
          <p:cNvPr id="38" name="Scale 3 icon" descr="Scale 3">    </p:cNvPr>
          <p:cNvPicPr>
            <a:picLocks noChangeAspect="1"/>
          </p:cNvPicPr>
          <p:nvPr/>
        </p:nvPicPr>
        <p:blipFill>
          <a:blip r:embed="rId3"/>
          <a:stretch>
            <a:fillRect/>
          </a:stretch>
        </p:blipFill>
        <p:spPr>
          <a:xfrm>
            <a:off x="7859268" y="4704588"/>
            <a:ext cx="329184" cy="329184"/>
          </a:xfrm>
          <a:prstGeom prst="rect">
            <a:avLst/>
          </a:prstGeom>
        </p:spPr>
      </p:pic>
      <p:sp>
        <p:nvSpPr>
          <p:cNvPr id="39" name="Text 34"/>
          <p:cNvSpPr txBox="1"/>
          <p:nvPr/>
        </p:nvSpPr>
        <p:spPr>
          <a:xfrm>
            <a:off x="8549640" y="4544568"/>
            <a:ext cx="3063240" cy="640080"/>
          </a:xfrm>
          <a:prstGeom prst="rect">
            <a:avLst/>
          </a:prstGeom>
          <a:noFill/>
          <a:ln/>
        </p:spPr>
        <p:txBody>
          <a:bodyPr wrap="square" lIns="0" tIns="0" rIns="0" bIns="0" rtlCol="0" anchor="ctr"/>
          <a:lstStyle/>
          <a:p>
            <a:pPr indent="0" marL="0">
              <a:buNone/>
            </a:pPr>
            <a:r>
              <a:rPr lang="en-US" sz="1800" b="1" dirty="0">
                <a:solidFill>
                  <a:schemeClr val="tx1"/>
                </a:solidFill>
              </a:rPr>
              <a:t>Deploy anywhere</a:t>
            </a:r>
            <a:endParaRPr lang="en-US" sz="1800" dirty="0"/>
          </a:p>
        </p:txBody>
      </p:sp>
      <p:sp>
        <p:nvSpPr>
          <p:cNvPr id="40" name="Text 35"/>
          <p:cNvSpPr txBox="1"/>
          <p:nvPr/>
        </p:nvSpPr>
        <p:spPr>
          <a:xfrm>
            <a:off x="7680960" y="5303520"/>
            <a:ext cx="3931920" cy="685800"/>
          </a:xfrm>
          <a:prstGeom prst="rect">
            <a:avLst/>
          </a:prstGeom>
          <a:noFill/>
          <a:ln/>
        </p:spPr>
        <p:txBody>
          <a:bodyPr wrap="square" lIns="0" tIns="0" rIns="0" bIns="0" rtlCol="0" anchor="t"/>
          <a:lstStyle/>
          <a:p>
            <a:pPr indent="0" marL="0">
              <a:buNone/>
            </a:pPr>
            <a:r>
              <a:rPr lang="en-US" sz="1400" dirty="0">
                <a:solidFill>
                  <a:schemeClr val="tx1"/>
                </a:solidFill>
              </a:rPr>
              <a:t>Docker Compose with nginx; HTTP-only demo mode or full HTTPS.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What's next for AquaResilience</a:t>
            </a:r>
            <a:endParaRPr lang="en-US" sz="3600" dirty="0"/>
          </a:p>
        </p:txBody>
      </p:sp>
      <p:sp>
        <p:nvSpPr>
          <p:cNvPr id="3" name="Next card 1"/>
          <p:cNvSpPr/>
          <p:nvPr/>
        </p:nvSpPr>
        <p:spPr>
          <a:xfrm>
            <a:off x="548640" y="1417320"/>
            <a:ext cx="5394960" cy="1645920"/>
          </a:xfrm>
          <a:prstGeom prst="roundRect">
            <a:avLst>
              <a:gd name="adj" fmla="val 6667"/>
            </a:avLst>
          </a:prstGeom>
          <a:solidFill>
            <a:schemeClr val="tx2"/>
          </a:solidFill>
          <a:ln w="12700">
            <a:solidFill>
              <a:schemeClr val="tx2"/>
            </a:solidFill>
            <a:prstDash val="solid"/>
          </a:ln>
        </p:spPr>
      </p:sp>
      <p:sp>
        <p:nvSpPr>
          <p:cNvPr id="4" name="Next 1 badge"/>
          <p:cNvSpPr/>
          <p:nvPr/>
        </p:nvSpPr>
        <p:spPr>
          <a:xfrm>
            <a:off x="822960" y="1691640"/>
            <a:ext cx="731520" cy="731520"/>
          </a:xfrm>
          <a:prstGeom prst="ellipse">
            <a:avLst/>
          </a:prstGeom>
          <a:solidFill>
            <a:schemeClr val="accent1"/>
          </a:solidFill>
          <a:ln w="12700">
            <a:solidFill>
              <a:schemeClr val="accent1"/>
            </a:solidFill>
            <a:prstDash val="solid"/>
          </a:ln>
        </p:spPr>
      </p:sp>
      <p:pic>
        <p:nvPicPr>
          <p:cNvPr id="5" name="Next 1 icon" descr="Next 1">    </p:cNvPr>
          <p:cNvPicPr>
            <a:picLocks noChangeAspect="1"/>
          </p:cNvPicPr>
          <p:nvPr/>
        </p:nvPicPr>
        <p:blipFill>
          <a:blip r:embed="rId1"/>
          <a:stretch>
            <a:fillRect/>
          </a:stretch>
        </p:blipFill>
        <p:spPr>
          <a:xfrm>
            <a:off x="1013155" y="1881835"/>
            <a:ext cx="351130" cy="351130"/>
          </a:xfrm>
          <a:prstGeom prst="rect">
            <a:avLst/>
          </a:prstGeom>
        </p:spPr>
      </p:pic>
      <p:sp>
        <p:nvSpPr>
          <p:cNvPr id="6" name="Text 3"/>
          <p:cNvSpPr txBox="1"/>
          <p:nvPr/>
        </p:nvSpPr>
        <p:spPr>
          <a:xfrm>
            <a:off x="1783080" y="1691640"/>
            <a:ext cx="3931920" cy="411480"/>
          </a:xfrm>
          <a:prstGeom prst="rect">
            <a:avLst/>
          </a:prstGeom>
          <a:noFill/>
          <a:ln/>
        </p:spPr>
        <p:txBody>
          <a:bodyPr wrap="square" lIns="0" tIns="0" rIns="0" bIns="0" rtlCol="0" anchor="t"/>
          <a:lstStyle/>
          <a:p>
            <a:pPr indent="0" marL="0">
              <a:buNone/>
            </a:pPr>
            <a:r>
              <a:rPr lang="en-US" sz="2000" b="1" dirty="0">
                <a:solidFill>
                  <a:schemeClr val="bg1"/>
                </a:solidFill>
              </a:rPr>
              <a:t>Every consortium city live</a:t>
            </a:r>
            <a:endParaRPr lang="en-US" sz="2000" dirty="0"/>
          </a:p>
        </p:txBody>
      </p:sp>
      <p:sp>
        <p:nvSpPr>
          <p:cNvPr id="7" name="Text 4"/>
          <p:cNvSpPr txBox="1"/>
          <p:nvPr/>
        </p:nvSpPr>
        <p:spPr>
          <a:xfrm>
            <a:off x="1783080" y="2148840"/>
            <a:ext cx="3931920" cy="822960"/>
          </a:xfrm>
          <a:prstGeom prst="rect">
            <a:avLst/>
          </a:prstGeom>
          <a:noFill/>
          <a:ln/>
        </p:spPr>
        <p:txBody>
          <a:bodyPr wrap="square" lIns="0" tIns="0" rIns="0" bIns="0" rtlCol="0" anchor="t"/>
          <a:lstStyle/>
          <a:p>
            <a:pPr indent="0" marL="0">
              <a:buNone/>
            </a:pPr>
            <a:r>
              <a:rPr lang="en-US" sz="1400" dirty="0">
                <a:solidFill>
                  <a:schemeClr val="bg2"/>
                </a:solidFill>
              </a:rPr>
              <a:t>Finish the remaining connectors and validate them with local partners.</a:t>
            </a:r>
            <a:endParaRPr lang="en-US" sz="1400" dirty="0"/>
          </a:p>
        </p:txBody>
      </p:sp>
      <p:sp>
        <p:nvSpPr>
          <p:cNvPr id="8" name="Next card 2"/>
          <p:cNvSpPr/>
          <p:nvPr/>
        </p:nvSpPr>
        <p:spPr>
          <a:xfrm>
            <a:off x="6217920" y="1417320"/>
            <a:ext cx="5394960" cy="1645920"/>
          </a:xfrm>
          <a:prstGeom prst="roundRect">
            <a:avLst>
              <a:gd name="adj" fmla="val 6667"/>
            </a:avLst>
          </a:prstGeom>
          <a:solidFill>
            <a:schemeClr val="tx2"/>
          </a:solidFill>
          <a:ln w="12700">
            <a:solidFill>
              <a:schemeClr val="tx2"/>
            </a:solidFill>
            <a:prstDash val="solid"/>
          </a:ln>
        </p:spPr>
      </p:sp>
      <p:sp>
        <p:nvSpPr>
          <p:cNvPr id="9" name="Next 2 badge"/>
          <p:cNvSpPr/>
          <p:nvPr/>
        </p:nvSpPr>
        <p:spPr>
          <a:xfrm>
            <a:off x="6492240" y="1691640"/>
            <a:ext cx="731520" cy="731520"/>
          </a:xfrm>
          <a:prstGeom prst="ellipse">
            <a:avLst/>
          </a:prstGeom>
          <a:solidFill>
            <a:schemeClr val="accent5"/>
          </a:solidFill>
          <a:ln w="12700">
            <a:solidFill>
              <a:schemeClr val="accent5"/>
            </a:solidFill>
            <a:prstDash val="solid"/>
          </a:ln>
        </p:spPr>
      </p:sp>
      <p:pic>
        <p:nvPicPr>
          <p:cNvPr id="10" name="Next 2 icon" descr="Next 2">    </p:cNvPr>
          <p:cNvPicPr>
            <a:picLocks noChangeAspect="1"/>
          </p:cNvPicPr>
          <p:nvPr/>
        </p:nvPicPr>
        <p:blipFill>
          <a:blip r:embed="rId2"/>
          <a:stretch>
            <a:fillRect/>
          </a:stretch>
        </p:blipFill>
        <p:spPr>
          <a:xfrm>
            <a:off x="6682435" y="1881835"/>
            <a:ext cx="351130" cy="351130"/>
          </a:xfrm>
          <a:prstGeom prst="rect">
            <a:avLst/>
          </a:prstGeom>
        </p:spPr>
      </p:pic>
      <p:sp>
        <p:nvSpPr>
          <p:cNvPr id="11" name="Text 7"/>
          <p:cNvSpPr txBox="1"/>
          <p:nvPr/>
        </p:nvSpPr>
        <p:spPr>
          <a:xfrm>
            <a:off x="7452360" y="1691640"/>
            <a:ext cx="3931920" cy="411480"/>
          </a:xfrm>
          <a:prstGeom prst="rect">
            <a:avLst/>
          </a:prstGeom>
          <a:noFill/>
          <a:ln/>
        </p:spPr>
        <p:txBody>
          <a:bodyPr wrap="square" lIns="0" tIns="0" rIns="0" bIns="0" rtlCol="0" anchor="t"/>
          <a:lstStyle/>
          <a:p>
            <a:pPr indent="0" marL="0">
              <a:buNone/>
            </a:pPr>
            <a:r>
              <a:rPr lang="en-US" sz="2000" b="1" dirty="0">
                <a:solidFill>
                  <a:schemeClr val="bg1"/>
                </a:solidFill>
              </a:rPr>
              <a:t>Per-city early warnings</a:t>
            </a:r>
            <a:endParaRPr lang="en-US" sz="2000" dirty="0"/>
          </a:p>
        </p:txBody>
      </p:sp>
      <p:sp>
        <p:nvSpPr>
          <p:cNvPr id="12" name="Text 8"/>
          <p:cNvSpPr txBox="1"/>
          <p:nvPr/>
        </p:nvSpPr>
        <p:spPr>
          <a:xfrm>
            <a:off x="7452360" y="2148840"/>
            <a:ext cx="3931920" cy="822960"/>
          </a:xfrm>
          <a:prstGeom prst="rect">
            <a:avLst/>
          </a:prstGeom>
          <a:noFill/>
          <a:ln/>
        </p:spPr>
        <p:txBody>
          <a:bodyPr wrap="square" lIns="0" tIns="0" rIns="0" bIns="0" rtlCol="0" anchor="t"/>
          <a:lstStyle/>
          <a:p>
            <a:pPr indent="0" marL="0">
              <a:buNone/>
            </a:pPr>
            <a:r>
              <a:rPr lang="en-US" sz="1400" dirty="0">
                <a:solidFill>
                  <a:schemeClr val="bg2"/>
                </a:solidFill>
              </a:rPr>
              <a:t>Give warnings their own city scope, alongside per-city briefs.</a:t>
            </a:r>
            <a:endParaRPr lang="en-US" sz="1400" dirty="0"/>
          </a:p>
        </p:txBody>
      </p:sp>
      <p:sp>
        <p:nvSpPr>
          <p:cNvPr id="13" name="Next card 3"/>
          <p:cNvSpPr/>
          <p:nvPr/>
        </p:nvSpPr>
        <p:spPr>
          <a:xfrm>
            <a:off x="548640" y="3246120"/>
            <a:ext cx="5394960" cy="1645920"/>
          </a:xfrm>
          <a:prstGeom prst="roundRect">
            <a:avLst>
              <a:gd name="adj" fmla="val 6667"/>
            </a:avLst>
          </a:prstGeom>
          <a:solidFill>
            <a:schemeClr val="tx2"/>
          </a:solidFill>
          <a:ln w="12700">
            <a:solidFill>
              <a:schemeClr val="tx2"/>
            </a:solidFill>
            <a:prstDash val="solid"/>
          </a:ln>
        </p:spPr>
      </p:sp>
      <p:sp>
        <p:nvSpPr>
          <p:cNvPr id="14" name="Next 3 badge"/>
          <p:cNvSpPr/>
          <p:nvPr/>
        </p:nvSpPr>
        <p:spPr>
          <a:xfrm>
            <a:off x="822960" y="3520440"/>
            <a:ext cx="731520" cy="731520"/>
          </a:xfrm>
          <a:prstGeom prst="ellipse">
            <a:avLst/>
          </a:prstGeom>
          <a:solidFill>
            <a:schemeClr val="accent2"/>
          </a:solidFill>
          <a:ln w="12700">
            <a:solidFill>
              <a:schemeClr val="accent2"/>
            </a:solidFill>
            <a:prstDash val="solid"/>
          </a:ln>
        </p:spPr>
      </p:sp>
      <p:pic>
        <p:nvPicPr>
          <p:cNvPr id="15" name="Next 3 icon" descr="Next 3">    </p:cNvPr>
          <p:cNvPicPr>
            <a:picLocks noChangeAspect="1"/>
          </p:cNvPicPr>
          <p:nvPr/>
        </p:nvPicPr>
        <p:blipFill>
          <a:blip r:embed="rId3"/>
          <a:stretch>
            <a:fillRect/>
          </a:stretch>
        </p:blipFill>
        <p:spPr>
          <a:xfrm>
            <a:off x="1013155" y="3710635"/>
            <a:ext cx="351130" cy="351130"/>
          </a:xfrm>
          <a:prstGeom prst="rect">
            <a:avLst/>
          </a:prstGeom>
        </p:spPr>
      </p:pic>
      <p:sp>
        <p:nvSpPr>
          <p:cNvPr id="16" name="Text 11"/>
          <p:cNvSpPr txBox="1"/>
          <p:nvPr/>
        </p:nvSpPr>
        <p:spPr>
          <a:xfrm>
            <a:off x="1783080" y="3520440"/>
            <a:ext cx="3931920" cy="411480"/>
          </a:xfrm>
          <a:prstGeom prst="rect">
            <a:avLst/>
          </a:prstGeom>
          <a:noFill/>
          <a:ln/>
        </p:spPr>
        <p:txBody>
          <a:bodyPr wrap="square" lIns="0" tIns="0" rIns="0" bIns="0" rtlCol="0" anchor="t"/>
          <a:lstStyle/>
          <a:p>
            <a:pPr indent="0" marL="0">
              <a:buNone/>
            </a:pPr>
            <a:r>
              <a:rPr lang="en-US" sz="2000" b="1" dirty="0">
                <a:solidFill>
                  <a:schemeClr val="bg1"/>
                </a:solidFill>
              </a:rPr>
              <a:t>Forecasting</a:t>
            </a:r>
            <a:endParaRPr lang="en-US" sz="2000" dirty="0"/>
          </a:p>
        </p:txBody>
      </p:sp>
      <p:sp>
        <p:nvSpPr>
          <p:cNvPr id="17" name="Text 12"/>
          <p:cNvSpPr txBox="1"/>
          <p:nvPr/>
        </p:nvSpPr>
        <p:spPr>
          <a:xfrm>
            <a:off x="1783080" y="3977640"/>
            <a:ext cx="3931920" cy="822960"/>
          </a:xfrm>
          <a:prstGeom prst="rect">
            <a:avLst/>
          </a:prstGeom>
          <a:noFill/>
          <a:ln/>
        </p:spPr>
        <p:txBody>
          <a:bodyPr wrap="square" lIns="0" tIns="0" rIns="0" bIns="0" rtlCol="0" anchor="t"/>
          <a:lstStyle/>
          <a:p>
            <a:pPr indent="0" marL="0">
              <a:buNone/>
            </a:pPr>
            <a:r>
              <a:rPr lang="en-US" sz="1400" dirty="0">
                <a:solidFill>
                  <a:schemeClr val="bg2"/>
                </a:solidFill>
              </a:rPr>
              <a:t>Extend the predictive trajectory with calibrated short-term models.</a:t>
            </a:r>
            <a:endParaRPr lang="en-US" sz="1400" dirty="0"/>
          </a:p>
        </p:txBody>
      </p:sp>
      <p:sp>
        <p:nvSpPr>
          <p:cNvPr id="18" name="Next card 4"/>
          <p:cNvSpPr/>
          <p:nvPr/>
        </p:nvSpPr>
        <p:spPr>
          <a:xfrm>
            <a:off x="6217920" y="3246120"/>
            <a:ext cx="5394960" cy="1645920"/>
          </a:xfrm>
          <a:prstGeom prst="roundRect">
            <a:avLst>
              <a:gd name="adj" fmla="val 6667"/>
            </a:avLst>
          </a:prstGeom>
          <a:solidFill>
            <a:schemeClr val="tx2"/>
          </a:solidFill>
          <a:ln w="12700">
            <a:solidFill>
              <a:schemeClr val="tx2"/>
            </a:solidFill>
            <a:prstDash val="solid"/>
          </a:ln>
        </p:spPr>
      </p:sp>
      <p:sp>
        <p:nvSpPr>
          <p:cNvPr id="19" name="Next 4 badge"/>
          <p:cNvSpPr/>
          <p:nvPr/>
        </p:nvSpPr>
        <p:spPr>
          <a:xfrm>
            <a:off x="6492240" y="3520440"/>
            <a:ext cx="731520" cy="731520"/>
          </a:xfrm>
          <a:prstGeom prst="ellipse">
            <a:avLst/>
          </a:prstGeom>
          <a:solidFill>
            <a:schemeClr val="accent3"/>
          </a:solidFill>
          <a:ln w="12700">
            <a:solidFill>
              <a:schemeClr val="accent3"/>
            </a:solidFill>
            <a:prstDash val="solid"/>
          </a:ln>
        </p:spPr>
      </p:sp>
      <p:pic>
        <p:nvPicPr>
          <p:cNvPr id="20" name="Next 4 icon" descr="Next 4">    </p:cNvPr>
          <p:cNvPicPr>
            <a:picLocks noChangeAspect="1"/>
          </p:cNvPicPr>
          <p:nvPr/>
        </p:nvPicPr>
        <p:blipFill>
          <a:blip r:embed="rId4"/>
          <a:stretch>
            <a:fillRect/>
          </a:stretch>
        </p:blipFill>
        <p:spPr>
          <a:xfrm>
            <a:off x="6682435" y="3710635"/>
            <a:ext cx="351130" cy="351130"/>
          </a:xfrm>
          <a:prstGeom prst="rect">
            <a:avLst/>
          </a:prstGeom>
        </p:spPr>
      </p:pic>
      <p:sp>
        <p:nvSpPr>
          <p:cNvPr id="21" name="Text 15"/>
          <p:cNvSpPr txBox="1"/>
          <p:nvPr/>
        </p:nvSpPr>
        <p:spPr>
          <a:xfrm>
            <a:off x="7452360" y="3520440"/>
            <a:ext cx="3931920" cy="411480"/>
          </a:xfrm>
          <a:prstGeom prst="rect">
            <a:avLst/>
          </a:prstGeom>
          <a:noFill/>
          <a:ln/>
        </p:spPr>
        <p:txBody>
          <a:bodyPr wrap="square" lIns="0" tIns="0" rIns="0" bIns="0" rtlCol="0" anchor="t"/>
          <a:lstStyle/>
          <a:p>
            <a:pPr indent="0" marL="0">
              <a:buNone/>
            </a:pPr>
            <a:r>
              <a:rPr lang="en-US" sz="2000" b="1" dirty="0">
                <a:solidFill>
                  <a:schemeClr val="bg1"/>
                </a:solidFill>
              </a:rPr>
              <a:t>Community channels</a:t>
            </a:r>
            <a:endParaRPr lang="en-US" sz="2000" dirty="0"/>
          </a:p>
        </p:txBody>
      </p:sp>
      <p:sp>
        <p:nvSpPr>
          <p:cNvPr id="22" name="Text 16"/>
          <p:cNvSpPr txBox="1"/>
          <p:nvPr/>
        </p:nvSpPr>
        <p:spPr>
          <a:xfrm>
            <a:off x="7452360" y="3977640"/>
            <a:ext cx="3931920" cy="822960"/>
          </a:xfrm>
          <a:prstGeom prst="rect">
            <a:avLst/>
          </a:prstGeom>
          <a:noFill/>
          <a:ln/>
        </p:spPr>
        <p:txBody>
          <a:bodyPr wrap="square" lIns="0" tIns="0" rIns="0" bIns="0" rtlCol="0" anchor="t"/>
          <a:lstStyle/>
          <a:p>
            <a:pPr indent="0" marL="0">
              <a:buNone/>
            </a:pPr>
            <a:r>
              <a:rPr lang="en-US" sz="1400" dirty="0">
                <a:solidFill>
                  <a:schemeClr val="bg2"/>
                </a:solidFill>
              </a:rPr>
              <a:t>Alert delivery and citizen-science observations, in the user's language.</a:t>
            </a:r>
            <a:endParaRPr lang="en-US" sz="1400" dirty="0"/>
          </a:p>
        </p:txBody>
      </p:sp>
      <p:sp>
        <p:nvSpPr>
          <p:cNvPr id="23" name="Logo card"/>
          <p:cNvSpPr/>
          <p:nvPr/>
        </p:nvSpPr>
        <p:spPr>
          <a:xfrm>
            <a:off x="548640" y="5303520"/>
            <a:ext cx="3108960" cy="914400"/>
          </a:xfrm>
          <a:prstGeom prst="roundRect">
            <a:avLst>
              <a:gd name="adj" fmla="val 12000"/>
            </a:avLst>
          </a:prstGeom>
          <a:solidFill>
            <a:schemeClr val="bg1"/>
          </a:solidFill>
          <a:ln w="12700">
            <a:solidFill>
              <a:schemeClr val="bg1"/>
            </a:solidFill>
            <a:prstDash val="solid"/>
          </a:ln>
        </p:spPr>
      </p:sp>
      <p:pic>
        <p:nvPicPr>
          <p:cNvPr id="24" name="Logo" descr="AquaResilience logo">    </p:cNvPr>
          <p:cNvPicPr>
            <a:picLocks noChangeAspect="1"/>
          </p:cNvPicPr>
          <p:nvPr/>
        </p:nvPicPr>
        <p:blipFill>
          <a:blip r:embed="rId5"/>
          <a:stretch>
            <a:fillRect/>
          </a:stretch>
        </p:blipFill>
        <p:spPr>
          <a:xfrm>
            <a:off x="731520" y="5413248"/>
            <a:ext cx="2743200" cy="920537"/>
          </a:xfrm>
          <a:prstGeom prst="rect">
            <a:avLst/>
          </a:prstGeom>
        </p:spPr>
      </p:pic>
      <p:sp>
        <p:nvSpPr>
          <p:cNvPr id="25" name="Text 18"/>
          <p:cNvSpPr txBox="1"/>
          <p:nvPr/>
        </p:nvSpPr>
        <p:spPr>
          <a:xfrm>
            <a:off x="4023360" y="5349240"/>
            <a:ext cx="7589520" cy="411480"/>
          </a:xfrm>
          <a:prstGeom prst="rect">
            <a:avLst/>
          </a:prstGeom>
          <a:noFill/>
          <a:ln/>
        </p:spPr>
        <p:txBody>
          <a:bodyPr wrap="square" lIns="0" tIns="0" rIns="0" bIns="0" rtlCol="0" anchor="t"/>
          <a:lstStyle/>
          <a:p>
            <a:pPr indent="0" marL="0">
              <a:buNone/>
            </a:pPr>
            <a:r>
              <a:rPr lang="en-US" sz="2000" b="1" dirty="0">
                <a:solidFill>
                  <a:schemeClr val="bg1"/>
                </a:solidFill>
              </a:rPr>
              <a:t>Zakaria ABIDI, solo builder</a:t>
            </a:r>
            <a:endParaRPr lang="en-US" sz="2000" dirty="0"/>
          </a:p>
        </p:txBody>
      </p:sp>
      <p:sp>
        <p:nvSpPr>
          <p:cNvPr id="26" name="Text 19"/>
          <p:cNvSpPr txBox="1"/>
          <p:nvPr/>
        </p:nvSpPr>
        <p:spPr>
          <a:xfrm>
            <a:off x="4023360" y="5806440"/>
            <a:ext cx="7589520" cy="411480"/>
          </a:xfrm>
          <a:prstGeom prst="rect">
            <a:avLst/>
          </a:prstGeom>
          <a:noFill/>
          <a:ln/>
        </p:spPr>
        <p:txBody>
          <a:bodyPr wrap="square" lIns="0" tIns="0" rIns="0" bIns="0" rtlCol="0" anchor="t"/>
          <a:lstStyle/>
          <a:p>
            <a:pPr indent="0" marL="0">
              <a:buNone/>
            </a:pPr>
            <a:r>
              <a:rPr lang="en-US" sz="1600" dirty="0">
                <a:solidFill>
                  <a:schemeClr val="bg2"/>
                </a:solidFill>
              </a:rPr>
              <a:t>Live demo and source code are linked on the Devpost submission. Thank you!</a:t>
            </a:r>
            <a:endParaRPr lang="en-US" sz="1600" dirty="0"/>
          </a:p>
        </p:txBody>
      </p:sp>
    </p:spTree>
  </p:cSld>
  <p:clrMapOvr>
    <a:masterClrMapping/>
  </p:clrMapOvr>
</p:sld>
</file>

<file path=ppt/theme/theme1.xml><?xml version="1.0" encoding="utf-8"?>
<a:theme xmlns:a="http://schemas.openxmlformats.org/drawingml/2006/main" name="AquaResilience">
  <a:themeElements>
    <a:clrScheme name="AquaResilience">
      <a:dk1>
        <a:srgbClr val="0B2545"/>
      </a:dk1>
      <a:lt1>
        <a:srgbClr val="FFFFFF"/>
      </a:lt1>
      <a:dk2>
        <a:srgbClr val="134074"/>
      </a:dk2>
      <a:lt2>
        <a:srgbClr val="EEF4F9"/>
      </a:lt2>
      <a:accent1>
        <a:srgbClr val="0A66B8"/>
      </a:accent1>
      <a:accent2>
        <a:srgbClr val="0E9F9A"/>
      </a:accent2>
      <a:accent3>
        <a:srgbClr val="3FA34D"/>
      </a:accent3>
      <a:accent4>
        <a:srgbClr val="F2A900"/>
      </a:accent4>
      <a:accent5>
        <a:srgbClr val="E8710A"/>
      </a:accent5>
      <a:accent6>
        <a:srgbClr val="D64545"/>
      </a:accent6>
      <a:hlink>
        <a:srgbClr val="0A66B8"/>
      </a:hlink>
      <a:folHlink>
        <a:srgbClr val="134074"/>
      </a:folHlink>
    </a:clrScheme>
    <a:fontScheme name="AquaResili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AquaResilience — OneAquaHealth IEEE Global Hackathon</dc:title>
  <dc:subject>PptxGenJS Presentation</dc:subject>
  <dc:creator>Zakaria ABIDI</dc:creator>
  <cp:lastModifiedBy>Zakaria ABIDI</cp:lastModifiedBy>
  <cp:revision>1</cp:revision>
  <dcterms:created xsi:type="dcterms:W3CDTF">2026-10-04T14:09:49Z</dcterms:created>
  <dcterms:modified xsi:type="dcterms:W3CDTF">2026-10-04T14:09:49Z</dcterms:modified>
</cp:coreProperties>
</file>